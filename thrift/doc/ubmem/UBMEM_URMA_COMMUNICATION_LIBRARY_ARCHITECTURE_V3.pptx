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16c80cc954797" /><Relationship Type="http://schemas.openxmlformats.org/officeDocument/2006/relationships/extended-properties" Target="/docProps/app.xml" Id="Rc5a329630875454b" /><Relationship Type="http://schemas.openxmlformats.org/officeDocument/2006/relationships/officeDocument" Target="/ppt/presentation.xml" Id="Rcdd939fb09d644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6ad971ef04335"/>
  </p:sldMasterIdLst>
  <p:notesMasterIdLst>
    <p:notesMasterId xmlns:r="http://schemas.openxmlformats.org/officeDocument/2006/relationships" r:id="R5f8e65c403c749e7"/>
  </p:notesMasterIdLst>
  <p:sldIdLst>
    <p:sldId xmlns:r="http://schemas.openxmlformats.org/officeDocument/2006/relationships" id="256" r:id="R619529ad4098452d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c156064b6040cc" /><Relationship Type="http://schemas.openxmlformats.org/officeDocument/2006/relationships/slideMaster" Target="/ppt/slideMasters/slideMaster1.xml" Id="Re7e6ad971ef04335" /><Relationship Type="http://schemas.openxmlformats.org/officeDocument/2006/relationships/notesMaster" Target="/ppt/notesMasters/notesMaster1.xml" Id="R5f8e65c403c749e7" /><Relationship Type="http://schemas.openxmlformats.org/officeDocument/2006/relationships/presProps" Target="/ppt/presProps.xml" Id="R7bd8a23c042141ce" /><Relationship Type="http://schemas.openxmlformats.org/officeDocument/2006/relationships/tableStyles" Target="/ppt/tableStyles.xml" Id="R9556c2ff628a4f17" /><Relationship Type="http://schemas.openxmlformats.org/officeDocument/2006/relationships/slide" Target="/ppt/slides/slide1.xml" Id="R619529ad409845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423abeda5543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47302472c44b8f" /><Relationship Type="http://schemas.openxmlformats.org/officeDocument/2006/relationships/notesMaster" Target="/ppt/notesMasters/notesMaster1.xml" Id="Rfdc52980d9f549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ac2ee58d3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22c6fa3f0d422d" /><Relationship Type="http://schemas.openxmlformats.org/officeDocument/2006/relationships/slideLayout" Target="/ppt/slideLayouts/slideLayout1.xml" Id="R86d1d06a471d4e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d1d06a471d4e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132c5cdd94a18" /><Relationship Type="http://schemas.openxmlformats.org/officeDocument/2006/relationships/notesSlide" Target="/ppt/notesSlides/notesSlide1.xml" Id="Re20c9c39413e45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894CB9-7A5C-4BF3-8D74-9DE9FACC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1409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面向 RPC 与 KV Cache 的统一异构传输架构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FD5710E-0521-4229-AE0A-B270C114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以可组合 Transport Core 统一编排 ub.mem、URMA 与更多 Provider</a:t>
            </a:r>
          </a:p>
        </p:txBody>
      </p:sp>
      <p:sp>
        <p:nvSpPr>
          <p:cNvPr id="3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F711DC9D-155E-4242-A562-81145086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409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BCE"/>
            </a:solidFill>
            <a:prstDash val="solid"/>
          </a:ln>
        </p:spPr>
      </p:sp>
      <p:sp>
        <p:nvSpPr>
          <p:cNvPr id="4" name="integration-layer">
            <a:extLst xmlns:a="http://schemas.openxmlformats.org/drawingml/2006/main">
              <a:ext uri="{FF2B5EF4-FFF2-40B4-BE49-F238E27FC236}">
                <a16:creationId xmlns:a16="http://schemas.microsoft.com/office/drawing/2014/main" id="{3C0EFD78-8CFD-4056-BB11-55C14A5F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4097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A8A"/>
            </a:solidFill>
            <a:prstDash val="solid"/>
          </a:ln>
        </p:spPr>
      </p:sp>
      <p:sp>
        <p:nvSpPr>
          <p:cNvPr id="5" name="transport-core-layer">
            <a:extLst xmlns:a="http://schemas.openxmlformats.org/drawingml/2006/main">
              <a:ext uri="{FF2B5EF4-FFF2-40B4-BE49-F238E27FC236}">
                <a16:creationId xmlns:a16="http://schemas.microsoft.com/office/drawing/2014/main" id="{DDD287A3-72B8-44A0-A566-8036C1DB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40970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2F6BCE"/>
            </a:solidFill>
            <a:prstDash val="solid"/>
          </a:ln>
        </p:spPr>
      </p:sp>
      <p:sp>
        <p:nvSpPr>
          <p:cNvPr id="6" name="provider-layer">
            <a:extLst xmlns:a="http://schemas.openxmlformats.org/drawingml/2006/main">
              <a:ext uri="{FF2B5EF4-FFF2-40B4-BE49-F238E27FC236}">
                <a16:creationId xmlns:a16="http://schemas.microsoft.com/office/drawing/2014/main" id="{A28A260F-826B-437A-B1F6-4764AFC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4097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A8A"/>
            </a:solidFill>
            <a:prstDash val="solid"/>
          </a:ln>
        </p:spPr>
      </p:sp>
      <p:sp>
        <p:nvSpPr>
          <p:cNvPr id="7" name="primitive-layer">
            <a:extLst xmlns:a="http://schemas.openxmlformats.org/drawingml/2006/main">
              <a:ext uri="{FF2B5EF4-FFF2-40B4-BE49-F238E27FC236}">
                <a16:creationId xmlns:a16="http://schemas.microsoft.com/office/drawing/2014/main" id="{4AFB1E4D-23B5-4076-ADE9-58C6E114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81850"/>
            <a:ext cx="14097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3CEDC"/>
            </a:solidFill>
            <a:prstDash val="solid"/>
          </a:ln>
        </p:spPr>
      </p:sp>
      <p:sp>
        <p:nvSpPr>
          <p:cNvPr id="8" name="app-rpc">
            <a:extLst xmlns:a="http://schemas.openxmlformats.org/drawingml/2006/main">
              <a:ext uri="{FF2B5EF4-FFF2-40B4-BE49-F238E27FC236}">
                <a16:creationId xmlns:a16="http://schemas.microsoft.com/office/drawing/2014/main" id="{29A53464-2D4D-4ECF-B269-7E63312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47775"/>
            <a:ext cx="23812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90B3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RPC</a:t>
            </a:r>
          </a:p>
        </p:txBody>
      </p:sp>
      <p:sp>
        <p:nvSpPr>
          <p:cNvPr id="9" name="app-kv">
            <a:extLst xmlns:a="http://schemas.openxmlformats.org/drawingml/2006/main">
              <a:ext uri="{FF2B5EF4-FFF2-40B4-BE49-F238E27FC236}">
                <a16:creationId xmlns:a16="http://schemas.microsoft.com/office/drawing/2014/main" id="{72E82C02-6696-4921-9806-F478324F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47775"/>
            <a:ext cx="23812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90B3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KV Cache</a:t>
            </a:r>
          </a:p>
        </p:txBody>
      </p:sp>
      <p:sp>
        <p:nvSpPr>
          <p:cNvPr id="10" name="app-storage">
            <a:extLst xmlns:a="http://schemas.openxmlformats.org/drawingml/2006/main">
              <a:ext uri="{FF2B5EF4-FFF2-40B4-BE49-F238E27FC236}">
                <a16:creationId xmlns:a16="http://schemas.microsoft.com/office/drawing/2014/main" id="{8BCB63B0-00F1-4F1A-8BC0-587B9487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47775"/>
            <a:ext cx="23812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90B3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存储 / 数据库</a:t>
            </a:r>
          </a:p>
        </p:txBody>
      </p:sp>
      <p:sp>
        <p:nvSpPr>
          <p:cNvPr id="11" name="app-general">
            <a:extLst xmlns:a="http://schemas.openxmlformats.org/drawingml/2006/main">
              <a:ext uri="{FF2B5EF4-FFF2-40B4-BE49-F238E27FC236}">
                <a16:creationId xmlns:a16="http://schemas.microsoft.com/office/drawing/2014/main" id="{08729E7C-25A5-4870-88AC-4C40FA0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247775"/>
            <a:ext cx="238125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90B3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通用应用</a:t>
            </a:r>
          </a:p>
        </p:txBody>
      </p:sp>
      <p:sp>
        <p:nvSpPr>
          <p:cNvPr id="12" name="specialized-adapters">
            <a:extLst xmlns:a="http://schemas.openxmlformats.org/drawingml/2006/main">
              <a:ext uri="{FF2B5EF4-FFF2-40B4-BE49-F238E27FC236}">
                <a16:creationId xmlns:a16="http://schemas.microsoft.com/office/drawing/2014/main" id="{235FE4F1-9842-423A-B206-DAC8B36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4095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1430">
            <a:solidFill>
              <a:srgbClr val="8DCFC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专用 Adapter</a:t>
            </a:r>
          </a:p>
        </p:txBody>
      </p:sp>
      <p:sp>
        <p:nvSpPr>
          <p:cNvPr id="13" name="generic-facade">
            <a:extLst xmlns:a="http://schemas.openxmlformats.org/drawingml/2006/main">
              <a:ext uri="{FF2B5EF4-FFF2-40B4-BE49-F238E27FC236}">
                <a16:creationId xmlns:a16="http://schemas.microsoft.com/office/drawing/2014/main" id="{CA8ACEAE-7435-4A8A-AF02-F4079A40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4095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1430">
            <a:solidFill>
              <a:srgbClr val="8DCFC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通用 Facade</a:t>
            </a:r>
          </a:p>
        </p:txBody>
      </p:sp>
      <p:sp>
        <p:nvSpPr>
          <p:cNvPr id="14" name="control-reliability-group">
            <a:extLst xmlns:a="http://schemas.openxmlformats.org/drawingml/2006/main">
              <a:ext uri="{FF2B5EF4-FFF2-40B4-BE49-F238E27FC236}">
                <a16:creationId xmlns:a16="http://schemas.microsoft.com/office/drawing/2014/main" id="{B091356F-9618-494B-9657-0DED335B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14700"/>
            <a:ext cx="38862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7CCED"/>
            </a:solidFill>
            <a:prstDash val="solid"/>
          </a:ln>
        </p:spPr>
      </p:sp>
      <p:sp>
        <p:nvSpPr>
          <p:cNvPr id="15" name="data-runtime-group">
            <a:extLst xmlns:a="http://schemas.openxmlformats.org/drawingml/2006/main">
              <a:ext uri="{FF2B5EF4-FFF2-40B4-BE49-F238E27FC236}">
                <a16:creationId xmlns:a16="http://schemas.microsoft.com/office/drawing/2014/main" id="{0C20BEDF-797F-4271-96BB-23A9FB61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695325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7CCED"/>
            </a:solidFill>
            <a:prstDash val="solid"/>
          </a:ln>
        </p:spPr>
      </p:sp>
      <p:sp>
        <p:nvSpPr>
          <p:cNvPr id="16" name="connection-manager">
            <a:extLst xmlns:a="http://schemas.openxmlformats.org/drawingml/2006/main">
              <a:ext uri="{FF2B5EF4-FFF2-40B4-BE49-F238E27FC236}">
                <a16:creationId xmlns:a16="http://schemas.microsoft.com/office/drawing/2014/main" id="{2E1B8B28-3617-4531-B0B9-F7B6E6D7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3505200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90B3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连接管理</a:t>
            </a:r>
          </a:p>
        </p:txBody>
      </p:sp>
      <p:sp>
        <p:nvSpPr>
          <p:cNvPr id="17" name="connection-lifecycle">
            <a:extLst xmlns:a="http://schemas.openxmlformats.org/drawingml/2006/main">
              <a:ext uri="{FF2B5EF4-FFF2-40B4-BE49-F238E27FC236}">
                <a16:creationId xmlns:a16="http://schemas.microsoft.com/office/drawing/2014/main" id="{330DB7F0-0549-4146-98BC-6E4A294B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1066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966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连接生命周期</a:t>
            </a:r>
          </a:p>
        </p:txBody>
      </p:sp>
      <p:sp>
        <p:nvSpPr>
          <p:cNvPr id="18" name="capability-negotiation">
            <a:extLst xmlns:a="http://schemas.openxmlformats.org/drawingml/2006/main">
              <a:ext uri="{FF2B5EF4-FFF2-40B4-BE49-F238E27FC236}">
                <a16:creationId xmlns:a16="http://schemas.microsoft.com/office/drawing/2014/main" id="{3B180C9E-BF7F-4E3B-9CB2-C403E707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1066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能力协商</a:t>
            </a:r>
          </a:p>
        </p:txBody>
      </p:sp>
      <p:sp>
        <p:nvSpPr>
          <p:cNvPr id="19" name="provider-routing">
            <a:extLst xmlns:a="http://schemas.openxmlformats.org/drawingml/2006/main">
              <a:ext uri="{FF2B5EF4-FFF2-40B4-BE49-F238E27FC236}">
                <a16:creationId xmlns:a16="http://schemas.microsoft.com/office/drawing/2014/main" id="{24963404-1F8E-4BFE-A802-F57D2D12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67200"/>
            <a:ext cx="10668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546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Provider 路由</a:t>
            </a:r>
          </a:p>
        </p:txBody>
      </p:sp>
      <p:sp>
        <p:nvSpPr>
          <p:cNvPr id="20" name="fault-recovery-manager">
            <a:extLst xmlns:a="http://schemas.openxmlformats.org/drawingml/2006/main">
              <a:ext uri="{FF2B5EF4-FFF2-40B4-BE49-F238E27FC236}">
                <a16:creationId xmlns:a16="http://schemas.microsoft.com/office/drawing/2014/main" id="{58FC2F87-5B0E-4DBC-91D0-D077C19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3505200" cy="4191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0478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故障处理与恢复</a:t>
            </a:r>
          </a:p>
        </p:txBody>
      </p:sp>
      <p:sp>
        <p:nvSpPr>
          <p:cNvPr id="21" name="data-transfer-engine">
            <a:extLst xmlns:a="http://schemas.openxmlformats.org/drawingml/2006/main">
              <a:ext uri="{FF2B5EF4-FFF2-40B4-BE49-F238E27FC236}">
                <a16:creationId xmlns:a16="http://schemas.microsoft.com/office/drawing/2014/main" id="{D7A83725-F8A8-47D0-AF93-1FCD986E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24275"/>
            <a:ext cx="3095625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90B3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数据传输引擎</a:t>
            </a:r>
          </a:p>
        </p:txBody>
      </p:sp>
      <p:sp>
        <p:nvSpPr>
          <p:cNvPr id="22" name="memory-buffer-manager">
            <a:extLst xmlns:a="http://schemas.openxmlformats.org/drawingml/2006/main">
              <a:ext uri="{FF2B5EF4-FFF2-40B4-BE49-F238E27FC236}">
                <a16:creationId xmlns:a16="http://schemas.microsoft.com/office/drawing/2014/main" id="{F6576E68-7523-4327-B5E8-2B5BAA95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24275"/>
            <a:ext cx="3095625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1430">
            <a:solidFill>
              <a:srgbClr val="90B3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Memory &amp; Buffer Manager</a:t>
            </a:r>
          </a:p>
        </p:txBody>
      </p:sp>
      <p:sp>
        <p:nvSpPr>
          <p:cNvPr id="23" name="traffic-manager">
            <a:extLst xmlns:a="http://schemas.openxmlformats.org/drawingml/2006/main">
              <a:ext uri="{FF2B5EF4-FFF2-40B4-BE49-F238E27FC236}">
                <a16:creationId xmlns:a16="http://schemas.microsoft.com/office/drawing/2014/main" id="{0CE2E19C-7AC3-44BA-949F-653A08B6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14850"/>
            <a:ext cx="3095625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0478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流控与调度</a:t>
            </a:r>
          </a:p>
        </p:txBody>
      </p:sp>
      <p:sp>
        <p:nvSpPr>
          <p:cNvPr id="24" name="progress-completion-engine">
            <a:extLst xmlns:a="http://schemas.openxmlformats.org/drawingml/2006/main">
              <a:ext uri="{FF2B5EF4-FFF2-40B4-BE49-F238E27FC236}">
                <a16:creationId xmlns:a16="http://schemas.microsoft.com/office/drawing/2014/main" id="{54B0A5BF-0A5F-4221-803B-65554E6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514850"/>
            <a:ext cx="3095625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0478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Progress &amp; Completion Engine</a:t>
            </a:r>
          </a:p>
        </p:txBody>
      </p:sp>
      <p:sp>
        <p:nvSpPr>
          <p:cNvPr id="25" name="operations-telemetry">
            <a:extLst xmlns:a="http://schemas.openxmlformats.org/drawingml/2006/main">
              <a:ext uri="{FF2B5EF4-FFF2-40B4-BE49-F238E27FC236}">
                <a16:creationId xmlns:a16="http://schemas.microsoft.com/office/drawing/2014/main" id="{9C667DE5-497D-4595-80D1-D81D268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11049000" cy="36195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0478">
            <a:solidFill>
              <a:srgbClr val="8DCFC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可观测性与运维</a:t>
            </a:r>
          </a:p>
        </p:txBody>
      </p:sp>
      <p:sp>
        <p:nvSpPr>
          <p:cNvPr id="26" name="urma-provider">
            <a:extLst xmlns:a="http://schemas.openxmlformats.org/drawingml/2006/main">
              <a:ext uri="{FF2B5EF4-FFF2-40B4-BE49-F238E27FC236}">
                <a16:creationId xmlns:a16="http://schemas.microsoft.com/office/drawing/2014/main" id="{A1DBCF4F-7A06-4F37-B309-C7E9CB5C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324600"/>
            <a:ext cx="24765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1430">
            <a:solidFill>
              <a:srgbClr val="8DCFC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URMA Provider</a:t>
            </a:r>
          </a:p>
        </p:txBody>
      </p:sp>
      <p:sp>
        <p:nvSpPr>
          <p:cNvPr id="27" name="ubmem-provider">
            <a:extLst xmlns:a="http://schemas.openxmlformats.org/drawingml/2006/main">
              <a:ext uri="{FF2B5EF4-FFF2-40B4-BE49-F238E27FC236}">
                <a16:creationId xmlns:a16="http://schemas.microsoft.com/office/drawing/2014/main" id="{515186FD-BF6E-43E4-BA0C-41E7931D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324600"/>
            <a:ext cx="2952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1430">
            <a:solidFill>
              <a:srgbClr val="8DCFC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ubmemtransport Provider</a:t>
            </a:r>
          </a:p>
        </p:txBody>
      </p:sp>
      <p:sp>
        <p:nvSpPr>
          <p:cNvPr id="28" name="tcp-provider">
            <a:extLst xmlns:a="http://schemas.openxmlformats.org/drawingml/2006/main">
              <a:ext uri="{FF2B5EF4-FFF2-40B4-BE49-F238E27FC236}">
                <a16:creationId xmlns:a16="http://schemas.microsoft.com/office/drawing/2014/main" id="{EDB3607A-437C-47E2-B347-0333BFC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24600"/>
            <a:ext cx="22860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F9F8"/>
          </a:solidFill>
          <a:ln xmlns:a="http://schemas.openxmlformats.org/drawingml/2006/main" w="11430">
            <a:solidFill>
              <a:srgbClr val="8DCFC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TCP Provider</a:t>
            </a:r>
          </a:p>
        </p:txBody>
      </p:sp>
      <p:sp>
        <p:nvSpPr>
          <p:cNvPr id="29" name="future-provider">
            <a:extLst xmlns:a="http://schemas.openxmlformats.org/drawingml/2006/main">
              <a:ext uri="{FF2B5EF4-FFF2-40B4-BE49-F238E27FC236}">
                <a16:creationId xmlns:a16="http://schemas.microsoft.com/office/drawing/2014/main" id="{BD170A69-29F9-4869-8DB1-AA4A2083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6324600"/>
            <a:ext cx="228600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DCFCB"/>
            </a:solidFill>
            <a:prstDash val="dash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Future Providers</a:t>
            </a:r>
          </a:p>
        </p:txBody>
      </p:sp>
      <p:sp>
        <p:nvSpPr>
          <p:cNvPr id="30" name="urma-primitive">
            <a:extLst xmlns:a="http://schemas.openxmlformats.org/drawingml/2006/main">
              <a:ext uri="{FF2B5EF4-FFF2-40B4-BE49-F238E27FC236}">
                <a16:creationId xmlns:a16="http://schemas.microsoft.com/office/drawing/2014/main" id="{687A80A4-EB2E-4A13-A907-8F251FE6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419975"/>
            <a:ext cx="2476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0478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URMA Library / Driver</a:t>
            </a:r>
          </a:p>
        </p:txBody>
      </p:sp>
      <p:sp>
        <p:nvSpPr>
          <p:cNvPr id="31" name="obmm-gqm">
            <a:extLst xmlns:a="http://schemas.openxmlformats.org/drawingml/2006/main">
              <a:ext uri="{FF2B5EF4-FFF2-40B4-BE49-F238E27FC236}">
                <a16:creationId xmlns:a16="http://schemas.microsoft.com/office/drawing/2014/main" id="{E4E7D793-9680-4F8E-A5C2-ABCF5786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7419975"/>
            <a:ext cx="295275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0478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OBMM / GQM</a:t>
            </a:r>
          </a:p>
        </p:txBody>
      </p:sp>
      <p:sp>
        <p:nvSpPr>
          <p:cNvPr id="32" name="posix-tcp">
            <a:extLst xmlns:a="http://schemas.openxmlformats.org/drawingml/2006/main">
              <a:ext uri="{FF2B5EF4-FFF2-40B4-BE49-F238E27FC236}">
                <a16:creationId xmlns:a16="http://schemas.microsoft.com/office/drawing/2014/main" id="{609DE28E-11A0-45FF-904A-C63746B2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419975"/>
            <a:ext cx="22860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10478">
            <a:solidFill>
              <a:srgbClr val="C3CE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POSIX Socket / TCP</a:t>
            </a:r>
          </a:p>
        </p:txBody>
      </p:sp>
      <p:sp>
        <p:nvSpPr>
          <p:cNvPr id="33" name="future-primitive">
            <a:extLst xmlns:a="http://schemas.openxmlformats.org/drawingml/2006/main">
              <a:ext uri="{FF2B5EF4-FFF2-40B4-BE49-F238E27FC236}">
                <a16:creationId xmlns:a16="http://schemas.microsoft.com/office/drawing/2014/main" id="{450BE10D-4B74-4391-9EBA-D1DBC098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7419975"/>
            <a:ext cx="22860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3CEDC"/>
            </a:solidFill>
            <a:prstDash val="dash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Other Fabric / Device</a:t>
            </a:r>
          </a:p>
        </p:txBody>
      </p:sp>
      <p:cxnSp>
        <p:nvCxnSpPr>
          <p:cNvPr id="83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7620000" y="18859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19B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7620000" y="28575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19B"/>
            </a:solidFill>
            <a:prstDash val="solid"/>
            <a:tailEnd type="triangle" w="sm" len="sm"/>
          </a:ln>
        </p:spPr>
      </p:cxnSp>
      <p:cxnSp>
        <p:nvCxnSpPr>
          <p:cNvPr id="8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7620000" y="59817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19B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7620000" y="70485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19B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2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4429125" y="68389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19B"/>
            </a:solidFill>
            <a:prstDash val="solid"/>
            <a:tailEnd type="triangle" w="sm" len="sm"/>
          </a:ln>
        </p:spPr>
      </p:cxnSp>
      <p:cxnSp>
        <p:nvCxnSpPr>
          <p:cNvPr id="88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7429500" y="68389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19B"/>
            </a:solidFill>
            <a:prstDash val="soli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28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10334625" y="68389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19B"/>
            </a:solidFill>
            <a:prstDash val="solid"/>
            <a:tailEnd type="triangle" w="sm" len="sm"/>
          </a:ln>
        </p:spPr>
      </p:cxnSp>
      <p:cxnSp>
        <p:nvCxnSpPr>
          <p:cNvPr id="90" name=""/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2906375" y="683895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E819B"/>
            </a:solidFill>
            <a:prstDash val="solid"/>
            <a:tailEnd type="triangle" w="sm" len="sm"/>
          </a:ln>
        </p:spPr>
      </p:cxnSp>
      <p:sp>
        <p:nvSpPr>
          <p:cNvPr id="42" name="application-label">
            <a:extLst xmlns:a="http://schemas.openxmlformats.org/drawingml/2006/main">
              <a:ext uri="{FF2B5EF4-FFF2-40B4-BE49-F238E27FC236}">
                <a16:creationId xmlns:a16="http://schemas.microsoft.com/office/drawing/2014/main" id="{E9B94BA3-1511-44CE-8D16-60C9DDEC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96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CE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F6BCE"/>
                </a:solidFill>
                <a:latin typeface="PingFang SC"/>
                <a:ea typeface="PingFang SC"/>
                <a:cs typeface="PingFang SC"/>
              </a:rPr>
              <a:t>应用层</a:t>
            </a:r>
          </a:p>
        </p:txBody>
      </p:sp>
      <p:sp>
        <p:nvSpPr>
          <p:cNvPr id="43" name="integration-label">
            <a:extLst xmlns:a="http://schemas.openxmlformats.org/drawingml/2006/main">
              <a:ext uri="{FF2B5EF4-FFF2-40B4-BE49-F238E27FC236}">
                <a16:creationId xmlns:a16="http://schemas.microsoft.com/office/drawing/2014/main" id="{D6236CE4-FAD2-4008-B820-3A64A901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8A8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8A8A"/>
                </a:solidFill>
                <a:latin typeface="PingFang SC"/>
                <a:ea typeface="PingFang SC"/>
                <a:cs typeface="PingFang SC"/>
              </a:rPr>
              <a:t>接入层</a:t>
            </a:r>
          </a:p>
        </p:txBody>
      </p:sp>
      <p:sp>
        <p:nvSpPr>
          <p:cNvPr id="44" name="core-label">
            <a:extLst xmlns:a="http://schemas.openxmlformats.org/drawingml/2006/main">
              <a:ext uri="{FF2B5EF4-FFF2-40B4-BE49-F238E27FC236}">
                <a16:creationId xmlns:a16="http://schemas.microsoft.com/office/drawing/2014/main" id="{85FDA5B8-3250-42B5-8A7C-34103B7E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BC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F6BCE"/>
                </a:solidFill>
                <a:latin typeface="PingFang SC"/>
                <a:ea typeface="PingFang SC"/>
                <a:cs typeface="PingFang SC"/>
              </a:rPr>
              <a:t>Transport Core</a:t>
            </a:r>
          </a:p>
        </p:txBody>
      </p:sp>
      <p:sp>
        <p:nvSpPr>
          <p:cNvPr id="45" name="core-positioning">
            <a:extLst xmlns:a="http://schemas.openxmlformats.org/drawingml/2006/main">
              <a:ext uri="{FF2B5EF4-FFF2-40B4-BE49-F238E27FC236}">
                <a16:creationId xmlns:a16="http://schemas.microsoft.com/office/drawing/2014/main" id="{FCF07393-F081-4171-AEA4-DC4BB8D1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133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统一语义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组合异构 Provider</a:t>
            </a:r>
          </a:p>
          <a:p xmlns:a="http://schemas.openxmlformats.org/drawingml/2006/main">
            <a:pPr algn="l">
              <a:defRPr sz="1425" b="0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面向持续演进</a:t>
            </a:r>
          </a:p>
        </p:txBody>
      </p:sp>
      <p:sp>
        <p:nvSpPr>
          <p:cNvPr id="46" name="provider-label">
            <a:extLst xmlns:a="http://schemas.openxmlformats.org/drawingml/2006/main">
              <a:ext uri="{FF2B5EF4-FFF2-40B4-BE49-F238E27FC236}">
                <a16:creationId xmlns:a16="http://schemas.microsoft.com/office/drawing/2014/main" id="{D9D9B218-6F16-4116-9FEE-39FB0219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A8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68A8A"/>
                </a:solidFill>
                <a:latin typeface="PingFang SC"/>
                <a:ea typeface="PingFang SC"/>
                <a:cs typeface="PingFang SC"/>
              </a:rPr>
              <a:t>Provider 生态</a:t>
            </a:r>
          </a:p>
        </p:txBody>
      </p:sp>
      <p:sp>
        <p:nvSpPr>
          <p:cNvPr id="47" name="primitive-label">
            <a:extLst xmlns:a="http://schemas.openxmlformats.org/drawingml/2006/main">
              <a:ext uri="{FF2B5EF4-FFF2-40B4-BE49-F238E27FC236}">
                <a16:creationId xmlns:a16="http://schemas.microsoft.com/office/drawing/2014/main" id="{6D048FAE-1E16-491E-B7B2-37AF4B3E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723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2627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52627A"/>
                </a:solidFill>
                <a:latin typeface="PingFang SC"/>
                <a:ea typeface="PingFang SC"/>
                <a:cs typeface="PingFang SC"/>
              </a:rPr>
              <a:t>基础服务</a:t>
            </a:r>
          </a:p>
        </p:txBody>
      </p:sp>
      <p:sp>
        <p:nvSpPr>
          <p:cNvPr id="48" name="control-group-title">
            <a:extLst xmlns:a="http://schemas.openxmlformats.org/drawingml/2006/main">
              <a:ext uri="{FF2B5EF4-FFF2-40B4-BE49-F238E27FC236}">
                <a16:creationId xmlns:a16="http://schemas.microsoft.com/office/drawing/2014/main" id="{B4463EB2-610A-4EFE-9C8C-C46A3B1D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7185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BC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6BCE"/>
                </a:solidFill>
                <a:latin typeface="PingFang SC"/>
                <a:ea typeface="PingFang SC"/>
                <a:cs typeface="PingFang SC"/>
              </a:rPr>
              <a:t>连接与可靠性</a:t>
            </a:r>
          </a:p>
        </p:txBody>
      </p:sp>
      <p:sp>
        <p:nvSpPr>
          <p:cNvPr id="49" name="runtime-group-title">
            <a:extLst xmlns:a="http://schemas.openxmlformats.org/drawingml/2006/main">
              <a:ext uri="{FF2B5EF4-FFF2-40B4-BE49-F238E27FC236}">
                <a16:creationId xmlns:a16="http://schemas.microsoft.com/office/drawing/2014/main" id="{F7AC0875-DB53-46BB-9A0A-8052C059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718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BCE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F6BCE"/>
                </a:solidFill>
                <a:latin typeface="PingFang SC"/>
                <a:ea typeface="PingFang SC"/>
                <a:cs typeface="PingFang SC"/>
              </a:rPr>
              <a:t>数据传输运行时</a:t>
            </a:r>
          </a:p>
        </p:txBody>
      </p:sp>
    </p:spTree>
    <p:extLst>
      <p:ext uri="{BB962C8B-B14F-4D97-AF65-F5344CB8AC3E}">
        <p14:creationId xmlns:p14="http://schemas.microsoft.com/office/powerpoint/2010/main" val="254316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2026-07-23T12:33:19.7880000Z</dcterms:created>
  <dcterms:modified xsi:type="dcterms:W3CDTF">2026-07-23T12:33:19.7880000Z</dcterms:modified>
</coreProperties>
</file>