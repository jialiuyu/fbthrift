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a94f1839554b87" /><Relationship Type="http://schemas.openxmlformats.org/officeDocument/2006/relationships/extended-properties" Target="/docProps/app.xml" Id="R6108e076718c435b" /><Relationship Type="http://schemas.openxmlformats.org/officeDocument/2006/relationships/officeDocument" Target="/ppt/presentation.xml" Id="R5d52492fdf314a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c23622afaf45b3"/>
  </p:sldMasterIdLst>
  <p:notesMasterIdLst>
    <p:notesMasterId xmlns:r="http://schemas.openxmlformats.org/officeDocument/2006/relationships" r:id="R0a88931be46a407f"/>
  </p:notesMasterIdLst>
  <p:sldIdLst>
    <p:sldId xmlns:r="http://schemas.openxmlformats.org/officeDocument/2006/relationships" id="256" r:id="R6d9872262c904052"/>
    <p:sldId xmlns:r="http://schemas.openxmlformats.org/officeDocument/2006/relationships" id="257" r:id="R49bd4bede90b48eb"/>
    <p:sldId xmlns:r="http://schemas.openxmlformats.org/officeDocument/2006/relationships" id="258" r:id="R5ef5d36a3485452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f6cf91fdce4750" /><Relationship Type="http://schemas.openxmlformats.org/officeDocument/2006/relationships/slideMaster" Target="/ppt/slideMasters/slideMaster1.xml" Id="R85c23622afaf45b3" /><Relationship Type="http://schemas.openxmlformats.org/officeDocument/2006/relationships/notesMaster" Target="/ppt/notesMasters/notesMaster1.xml" Id="R0a88931be46a407f" /><Relationship Type="http://schemas.openxmlformats.org/officeDocument/2006/relationships/presProps" Target="/ppt/presProps.xml" Id="Rc9fa1c3291b44acc" /><Relationship Type="http://schemas.openxmlformats.org/officeDocument/2006/relationships/tableStyles" Target="/ppt/tableStyles.xml" Id="R0eeb8c5b8b2e4082" /><Relationship Type="http://schemas.openxmlformats.org/officeDocument/2006/relationships/slide" Target="/ppt/slides/slide1.xml" Id="R6d9872262c904052" /><Relationship Type="http://schemas.openxmlformats.org/officeDocument/2006/relationships/slide" Target="/ppt/slides/slide2.xml" Id="R49bd4bede90b48eb" /><Relationship Type="http://schemas.openxmlformats.org/officeDocument/2006/relationships/slide" Target="/ppt/slides/slide3.xml" Id="R5ef5d36a348545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2aa47bdd1046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ad61f84cd34e8f" /><Relationship Type="http://schemas.openxmlformats.org/officeDocument/2006/relationships/notesMaster" Target="/ppt/notesMasters/notesMaster1.xml" Id="R35bb65a59cad49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a71e20d6254bd0" /><Relationship Type="http://schemas.openxmlformats.org/officeDocument/2006/relationships/notesMaster" Target="/ppt/notesMasters/notesMaster1.xml" Id="Rd523b9eb7aff4b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16a876e47a4d53" /><Relationship Type="http://schemas.openxmlformats.org/officeDocument/2006/relationships/notesMaster" Target="/ppt/notesMasters/notesMaster1.xml" Id="Rc4072f9a847948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6d93086f84c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b6d47677c149c5" /><Relationship Type="http://schemas.openxmlformats.org/officeDocument/2006/relationships/slideLayout" Target="/ppt/slideLayouts/slideLayout1.xml" Id="Rd35ea747494542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5ea747494542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e1f3f58ce49fd" /><Relationship Type="http://schemas.openxmlformats.org/officeDocument/2006/relationships/image" Target="/ppt/media/image.png" Id="R5afb135d49c64123" /><Relationship Type="http://schemas.openxmlformats.org/officeDocument/2006/relationships/image" Target="/ppt/media/image2.png" Id="R68028eaaceee4be8" /><Relationship Type="http://schemas.openxmlformats.org/officeDocument/2006/relationships/image" Target="/ppt/media/image3.png" Id="R5a3be155914042ff" /><Relationship Type="http://schemas.openxmlformats.org/officeDocument/2006/relationships/notesSlide" Target="/ppt/notesSlides/notesSlide1.xml" Id="Rd9f79fda1ac94d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8e3249ba44e8e" /><Relationship Type="http://schemas.openxmlformats.org/officeDocument/2006/relationships/image" Target="/ppt/media/image4.png" Id="R5efc00a306914f52" /><Relationship Type="http://schemas.openxmlformats.org/officeDocument/2006/relationships/image" Target="/ppt/media/image5.png" Id="Re094188307a04ae4" /><Relationship Type="http://schemas.openxmlformats.org/officeDocument/2006/relationships/notesSlide" Target="/ppt/notesSlides/notesSlide2.xml" Id="R9d80cfed8f7f40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d762e75b34842" /><Relationship Type="http://schemas.openxmlformats.org/officeDocument/2006/relationships/image" Target="/ppt/media/image6.png" Id="R692ec4f27dbf4a7f" /><Relationship Type="http://schemas.openxmlformats.org/officeDocument/2006/relationships/image" Target="/ppt/media/image7.png" Id="R2a38701518a34d74" /><Relationship Type="http://schemas.openxmlformats.org/officeDocument/2006/relationships/notesSlide" Target="/ppt/notesSlides/notesSlide3.xml" Id="R2433a113521e46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accent-1">
            <a:extLst xmlns:a="http://schemas.openxmlformats.org/drawingml/2006/main">
              <a:ext uri="{FF2B5EF4-FFF2-40B4-BE49-F238E27FC236}">
                <a16:creationId xmlns:a16="http://schemas.microsoft.com/office/drawing/2014/main" id="{C97E395A-0032-4FA4-9702-5907EBBD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921AE531-6F7A-4C16-8483-D4810005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13919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RPC Baseline QPS Sweep 与 35K Open-loop Delay Sweep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58134EDE-CCCF-48D2-9DE0-4C7AB402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1">
            <a:extLst xmlns:a="http://schemas.openxmlformats.org/drawingml/2006/main">
              <a:ext uri="{FF2B5EF4-FFF2-40B4-BE49-F238E27FC236}">
                <a16:creationId xmlns:a16="http://schemas.microsoft.com/office/drawing/2014/main" id="{119202E2-E293-4958-87DC-83D9D3A1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gqm_injected_delay_sweep/README.md · EDR-0002</a:t>
            </a:r>
          </a:p>
        </p:txBody>
      </p:sp>
      <p:sp>
        <p:nvSpPr>
          <p:cNvPr id="5" name="page-1">
            <a:extLst xmlns:a="http://schemas.openxmlformats.org/drawingml/2006/main">
              <a:ext uri="{FF2B5EF4-FFF2-40B4-BE49-F238E27FC236}">
                <a16:creationId xmlns:a16="http://schemas.microsoft.com/office/drawing/2014/main" id="{59DE8E22-8C91-4923-A6A1-E0E68672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  <p:sp>
        <p:nvSpPr>
          <p:cNvPr id="6" name="gqm-open-conditions-bg">
            <a:extLst xmlns:a="http://schemas.openxmlformats.org/drawingml/2006/main">
              <a:ext uri="{FF2B5EF4-FFF2-40B4-BE49-F238E27FC236}">
                <a16:creationId xmlns:a16="http://schemas.microsoft.com/office/drawing/2014/main" id="{C4900219-D2C0-4035-8ADE-4D1F79A4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19175"/>
            <a:ext cx="1139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gqm-open-conditions-text">
            <a:extLst xmlns:a="http://schemas.openxmlformats.org/drawingml/2006/main">
              <a:ext uri="{FF2B5EF4-FFF2-40B4-BE49-F238E27FC236}">
                <a16:creationId xmlns:a16="http://schemas.microsoft.com/office/drawing/2014/main" id="{83204AD0-E5D4-4DE2-8740-95F87FE9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Unary64 · Poisson open loop · 35K target QPS · max_inflight=496 · server 1 IO + 1 CPU · single run / point</a:t>
            </a:r>
          </a:p>
        </p:txBody>
      </p:sp>
      <p:sp>
        <p:nvSpPr>
          <p:cNvPr id="8" name="gqm-baseline-label-rule">
            <a:extLst xmlns:a="http://schemas.openxmlformats.org/drawingml/2006/main">
              <a:ext uri="{FF2B5EF4-FFF2-40B4-BE49-F238E27FC236}">
                <a16:creationId xmlns:a16="http://schemas.microsoft.com/office/drawing/2014/main" id="{7298B465-C57D-465E-9475-31D93399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qm-baseline-label-text">
            <a:extLst xmlns:a="http://schemas.openxmlformats.org/drawingml/2006/main">
              <a:ext uri="{FF2B5EF4-FFF2-40B4-BE49-F238E27FC236}">
                <a16:creationId xmlns:a16="http://schemas.microsoft.com/office/drawing/2014/main" id="{14D5D765-CA8F-4BD7-9C38-0E0165F4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Sweep A · Baseline QPS</a:t>
            </a:r>
          </a:p>
        </p:txBody>
      </p:sp>
      <p:sp>
        <p:nvSpPr>
          <p:cNvPr id="10" name="gqm-delay-label-rule">
            <a:extLst xmlns:a="http://schemas.openxmlformats.org/drawingml/2006/main">
              <a:ext uri="{FF2B5EF4-FFF2-40B4-BE49-F238E27FC236}">
                <a16:creationId xmlns:a16="http://schemas.microsoft.com/office/drawing/2014/main" id="{17BC64A0-3F37-4754-A9D1-25C77662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4382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qm-delay-label-text">
            <a:extLst xmlns:a="http://schemas.openxmlformats.org/drawingml/2006/main">
              <a:ext uri="{FF2B5EF4-FFF2-40B4-BE49-F238E27FC236}">
                <a16:creationId xmlns:a16="http://schemas.microsoft.com/office/drawing/2014/main" id="{A1C15D0A-5484-4434-91D4-094D569A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14475"/>
            <a:ext cx="775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Sweep B · 35K Open-loop GQM delay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E8BF7-9045-4720-B847-373F8A30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24025"/>
            <a:ext cx="37719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Latency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769BC-5844-4662-BEA7-E47FAA98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24025"/>
            <a:ext cx="37719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Capacity</a:t>
            </a:r>
          </a:p>
        </p:txBody>
      </p:sp>
      <p:sp>
        <p:nvSpPr>
          <p:cNvPr id="14" name="gqm-baseline-figure-border">
            <a:extLst xmlns:a="http://schemas.openxmlformats.org/drawingml/2006/main">
              <a:ext uri="{FF2B5EF4-FFF2-40B4-BE49-F238E27FC236}">
                <a16:creationId xmlns:a16="http://schemas.microsoft.com/office/drawing/2014/main" id="{4A6BFE7D-2242-4353-88B6-A5D64E5E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b135d49c64123"/>
          <a:stretch xmlns:a="http://schemas.openxmlformats.org/drawingml/2006/main"/>
        </p:blipFill>
        <p:spPr>
          <a:xfrm xmlns:a="http://schemas.openxmlformats.org/drawingml/2006/main">
            <a:off x="467772" y="1743075"/>
            <a:ext cx="3293555" cy="3009900"/>
          </a:xfrm>
          <a:prstGeom xmlns:a="http://schemas.openxmlformats.org/drawingml/2006/main" prst="rect">
            <a:avLst/>
          </a:prstGeom>
        </p:spPr>
      </p:pic>
      <p:sp>
        <p:nvSpPr>
          <p:cNvPr id="16" name="gqm-delay-latency-figure-border">
            <a:extLst xmlns:a="http://schemas.openxmlformats.org/drawingml/2006/main">
              <a:ext uri="{FF2B5EF4-FFF2-40B4-BE49-F238E27FC236}">
                <a16:creationId xmlns:a16="http://schemas.microsoft.com/office/drawing/2014/main" id="{ECB665D8-AF1F-4B58-A203-F0C41FA5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24050"/>
            <a:ext cx="3771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28eaaceee4be8"/>
          <a:stretch xmlns:a="http://schemas.openxmlformats.org/drawingml/2006/main"/>
        </p:blipFill>
        <p:spPr>
          <a:xfrm xmlns:a="http://schemas.openxmlformats.org/drawingml/2006/main">
            <a:off x="4057650" y="2311167"/>
            <a:ext cx="3733800" cy="2654766"/>
          </a:xfrm>
          <a:prstGeom xmlns:a="http://schemas.openxmlformats.org/drawingml/2006/main" prst="rect">
            <a:avLst/>
          </a:prstGeom>
        </p:spPr>
      </p:pic>
      <p:sp>
        <p:nvSpPr>
          <p:cNvPr id="18" name="gqm-delay-capacity-figure-border">
            <a:extLst xmlns:a="http://schemas.openxmlformats.org/drawingml/2006/main">
              <a:ext uri="{FF2B5EF4-FFF2-40B4-BE49-F238E27FC236}">
                <a16:creationId xmlns:a16="http://schemas.microsoft.com/office/drawing/2014/main" id="{731A73C3-2499-449B-B193-5A4DD118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3771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be155914042ff"/>
          <a:stretch xmlns:a="http://schemas.openxmlformats.org/drawingml/2006/main"/>
        </p:blipFill>
        <p:spPr>
          <a:xfrm xmlns:a="http://schemas.openxmlformats.org/drawingml/2006/main">
            <a:off x="8039100" y="2079945"/>
            <a:ext cx="3733800" cy="3117209"/>
          </a:xfrm>
          <a:prstGeom xmlns:a="http://schemas.openxmlformats.org/drawingml/2006/main" prst="rect">
            <a:avLst/>
          </a:prstGeom>
        </p:spPr>
      </p:pic>
      <p:sp>
        <p:nvSpPr>
          <p:cNvPr id="20" name="gqm-open-key-results-header">
            <a:extLst xmlns:a="http://schemas.openxmlformats.org/drawingml/2006/main">
              <a:ext uri="{FF2B5EF4-FFF2-40B4-BE49-F238E27FC236}">
                <a16:creationId xmlns:a16="http://schemas.microsoft.com/office/drawing/2014/main" id="{08A22A48-B0FE-4818-8EEC-30DEF5A9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gqm-open-key-results-header-0">
            <a:extLst xmlns:a="http://schemas.openxmlformats.org/drawingml/2006/main">
              <a:ext uri="{FF2B5EF4-FFF2-40B4-BE49-F238E27FC236}">
                <a16:creationId xmlns:a16="http://schemas.microsoft.com/office/drawing/2014/main" id="{996773A8-FF0A-4A2B-8EE7-B546C748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905375"/>
            <a:ext cx="419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Added</a:t>
            </a:r>
          </a:p>
        </p:txBody>
      </p:sp>
      <p:sp>
        <p:nvSpPr>
          <p:cNvPr id="22" name="gqm-open-key-results-header-1">
            <a:extLst xmlns:a="http://schemas.openxmlformats.org/drawingml/2006/main">
              <a:ext uri="{FF2B5EF4-FFF2-40B4-BE49-F238E27FC236}">
                <a16:creationId xmlns:a16="http://schemas.microsoft.com/office/drawing/2014/main" id="{79D023DF-26B8-4D62-A3A2-629D3CFF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905375"/>
            <a:ext cx="647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QPS</a:t>
            </a:r>
          </a:p>
        </p:txBody>
      </p:sp>
      <p:sp>
        <p:nvSpPr>
          <p:cNvPr id="23" name="gqm-open-key-results-header-2">
            <a:extLst xmlns:a="http://schemas.openxmlformats.org/drawingml/2006/main">
              <a:ext uri="{FF2B5EF4-FFF2-40B4-BE49-F238E27FC236}">
                <a16:creationId xmlns:a16="http://schemas.microsoft.com/office/drawing/2014/main" id="{6B996989-2683-4B81-A00D-8B0E1EDC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905375"/>
            <a:ext cx="83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p50</a:t>
            </a:r>
          </a:p>
        </p:txBody>
      </p:sp>
      <p:sp>
        <p:nvSpPr>
          <p:cNvPr id="24" name="gqm-open-key-results-header-3">
            <a:extLst xmlns:a="http://schemas.openxmlformats.org/drawingml/2006/main">
              <a:ext uri="{FF2B5EF4-FFF2-40B4-BE49-F238E27FC236}">
                <a16:creationId xmlns:a16="http://schemas.microsoft.com/office/drawing/2014/main" id="{3B67DAE2-A8D6-40B5-A9A4-C53A44DA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905375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p99</a:t>
            </a:r>
          </a:p>
        </p:txBody>
      </p:sp>
      <p:sp>
        <p:nvSpPr>
          <p:cNvPr id="25" name="gqm-open-key-results-row-0">
            <a:extLst xmlns:a="http://schemas.openxmlformats.org/drawingml/2006/main">
              <a:ext uri="{FF2B5EF4-FFF2-40B4-BE49-F238E27FC236}">
                <a16:creationId xmlns:a16="http://schemas.microsoft.com/office/drawing/2014/main" id="{016D02E1-1B93-4616-9FB5-99E87CC7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gqm-open-key-results-r0-c0">
            <a:extLst xmlns:a="http://schemas.openxmlformats.org/drawingml/2006/main">
              <a:ext uri="{FF2B5EF4-FFF2-40B4-BE49-F238E27FC236}">
                <a16:creationId xmlns:a16="http://schemas.microsoft.com/office/drawing/2014/main" id="{E8F90F00-B177-41CF-AA14-2464D837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133975"/>
            <a:ext cx="419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0x</a:t>
            </a:r>
          </a:p>
        </p:txBody>
      </p:sp>
      <p:sp>
        <p:nvSpPr>
          <p:cNvPr id="27" name="gqm-open-key-results-r0-c1">
            <a:extLst xmlns:a="http://schemas.openxmlformats.org/drawingml/2006/main">
              <a:ext uri="{FF2B5EF4-FFF2-40B4-BE49-F238E27FC236}">
                <a16:creationId xmlns:a16="http://schemas.microsoft.com/office/drawing/2014/main" id="{BF078BD8-83C5-40EF-B16C-35651DFA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133975"/>
            <a:ext cx="647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35.07K</a:t>
            </a:r>
          </a:p>
        </p:txBody>
      </p:sp>
      <p:sp>
        <p:nvSpPr>
          <p:cNvPr id="28" name="gqm-open-key-results-r0-c2">
            <a:extLst xmlns:a="http://schemas.openxmlformats.org/drawingml/2006/main">
              <a:ext uri="{FF2B5EF4-FFF2-40B4-BE49-F238E27FC236}">
                <a16:creationId xmlns:a16="http://schemas.microsoft.com/office/drawing/2014/main" id="{72E4BF85-6B32-435E-A05C-A830E6A9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133975"/>
            <a:ext cx="83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526 µs</a:t>
            </a:r>
          </a:p>
        </p:txBody>
      </p:sp>
      <p:sp>
        <p:nvSpPr>
          <p:cNvPr id="29" name="gqm-open-key-results-r0-c3">
            <a:extLst xmlns:a="http://schemas.openxmlformats.org/drawingml/2006/main">
              <a:ext uri="{FF2B5EF4-FFF2-40B4-BE49-F238E27FC236}">
                <a16:creationId xmlns:a16="http://schemas.microsoft.com/office/drawing/2014/main" id="{D0625A30-4BDC-487D-8D4E-042121F2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133975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1.274 ms</a:t>
            </a:r>
          </a:p>
        </p:txBody>
      </p:sp>
      <p:sp>
        <p:nvSpPr>
          <p:cNvPr id="30" name="gqm-open-key-results-row-1">
            <a:extLst xmlns:a="http://schemas.openxmlformats.org/drawingml/2006/main">
              <a:ext uri="{FF2B5EF4-FFF2-40B4-BE49-F238E27FC236}">
                <a16:creationId xmlns:a16="http://schemas.microsoft.com/office/drawing/2014/main" id="{1B8C638B-CEE5-462E-81D6-9E36FE48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gqm-open-key-results-r1-c0">
            <a:extLst xmlns:a="http://schemas.openxmlformats.org/drawingml/2006/main">
              <a:ext uri="{FF2B5EF4-FFF2-40B4-BE49-F238E27FC236}">
                <a16:creationId xmlns:a16="http://schemas.microsoft.com/office/drawing/2014/main" id="{7F5BA0AF-2E1C-4D1E-8C48-2200007D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362575"/>
            <a:ext cx="419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40x</a:t>
            </a:r>
          </a:p>
        </p:txBody>
      </p:sp>
      <p:sp>
        <p:nvSpPr>
          <p:cNvPr id="32" name="gqm-open-key-results-r1-c1">
            <a:extLst xmlns:a="http://schemas.openxmlformats.org/drawingml/2006/main">
              <a:ext uri="{FF2B5EF4-FFF2-40B4-BE49-F238E27FC236}">
                <a16:creationId xmlns:a16="http://schemas.microsoft.com/office/drawing/2014/main" id="{F7241F5B-49DD-483F-8404-802B3BC0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362575"/>
            <a:ext cx="647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35.07K</a:t>
            </a:r>
          </a:p>
        </p:txBody>
      </p:sp>
      <p:sp>
        <p:nvSpPr>
          <p:cNvPr id="33" name="gqm-open-key-results-r1-c2">
            <a:extLst xmlns:a="http://schemas.openxmlformats.org/drawingml/2006/main">
              <a:ext uri="{FF2B5EF4-FFF2-40B4-BE49-F238E27FC236}">
                <a16:creationId xmlns:a16="http://schemas.microsoft.com/office/drawing/2014/main" id="{A85731E3-F3E6-416A-BD84-DBA826FC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362575"/>
            <a:ext cx="83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743 µs</a:t>
            </a:r>
          </a:p>
        </p:txBody>
      </p:sp>
      <p:sp>
        <p:nvSpPr>
          <p:cNvPr id="34" name="gqm-open-key-results-r1-c3">
            <a:extLst xmlns:a="http://schemas.openxmlformats.org/drawingml/2006/main">
              <a:ext uri="{FF2B5EF4-FFF2-40B4-BE49-F238E27FC236}">
                <a16:creationId xmlns:a16="http://schemas.microsoft.com/office/drawing/2014/main" id="{AEB9F3AC-BDD1-450C-9582-4E32EA70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362575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1.615 ms</a:t>
            </a:r>
          </a:p>
        </p:txBody>
      </p:sp>
      <p:sp>
        <p:nvSpPr>
          <p:cNvPr id="35" name="gqm-open-key-results-row-2">
            <a:extLst xmlns:a="http://schemas.openxmlformats.org/drawingml/2006/main">
              <a:ext uri="{FF2B5EF4-FFF2-40B4-BE49-F238E27FC236}">
                <a16:creationId xmlns:a16="http://schemas.microsoft.com/office/drawing/2014/main" id="{5509AF06-AE8C-4636-9BD3-B0544B99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gqm-open-key-results-r2-c0">
            <a:extLst xmlns:a="http://schemas.openxmlformats.org/drawingml/2006/main">
              <a:ext uri="{FF2B5EF4-FFF2-40B4-BE49-F238E27FC236}">
                <a16:creationId xmlns:a16="http://schemas.microsoft.com/office/drawing/2014/main" id="{D8C7AA29-7FD9-465C-804B-C37D057D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591175"/>
            <a:ext cx="419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100x</a:t>
            </a:r>
          </a:p>
        </p:txBody>
      </p:sp>
      <p:sp>
        <p:nvSpPr>
          <p:cNvPr id="37" name="gqm-open-key-results-r2-c1">
            <a:extLst xmlns:a="http://schemas.openxmlformats.org/drawingml/2006/main">
              <a:ext uri="{FF2B5EF4-FFF2-40B4-BE49-F238E27FC236}">
                <a16:creationId xmlns:a16="http://schemas.microsoft.com/office/drawing/2014/main" id="{AF236B3E-50C1-44F4-B301-14609531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591175"/>
            <a:ext cx="647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35.07K</a:t>
            </a:r>
          </a:p>
        </p:txBody>
      </p:sp>
      <p:sp>
        <p:nvSpPr>
          <p:cNvPr id="38" name="gqm-open-key-results-r2-c2">
            <a:extLst xmlns:a="http://schemas.openxmlformats.org/drawingml/2006/main">
              <a:ext uri="{FF2B5EF4-FFF2-40B4-BE49-F238E27FC236}">
                <a16:creationId xmlns:a16="http://schemas.microsoft.com/office/drawing/2014/main" id="{C953F9C7-CCC1-4420-A8D2-629A1838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591175"/>
            <a:ext cx="83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6.992 ms</a:t>
            </a:r>
          </a:p>
        </p:txBody>
      </p:sp>
      <p:sp>
        <p:nvSpPr>
          <p:cNvPr id="39" name="gqm-open-key-results-r2-c3">
            <a:extLst xmlns:a="http://schemas.openxmlformats.org/drawingml/2006/main">
              <a:ext uri="{FF2B5EF4-FFF2-40B4-BE49-F238E27FC236}">
                <a16:creationId xmlns:a16="http://schemas.microsoft.com/office/drawing/2014/main" id="{FD13721C-E6E1-473E-88C7-4C93A80B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591175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8.784 ms</a:t>
            </a:r>
          </a:p>
        </p:txBody>
      </p:sp>
      <p:sp>
        <p:nvSpPr>
          <p:cNvPr id="40" name="gqm-open-key-results-row-3">
            <a:extLst xmlns:a="http://schemas.openxmlformats.org/drawingml/2006/main">
              <a:ext uri="{FF2B5EF4-FFF2-40B4-BE49-F238E27FC236}">
                <a16:creationId xmlns:a16="http://schemas.microsoft.com/office/drawing/2014/main" id="{5E85B435-383C-49C8-B619-174C390A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gqm-open-key-results-r3-c0">
            <a:extLst xmlns:a="http://schemas.openxmlformats.org/drawingml/2006/main">
              <a:ext uri="{FF2B5EF4-FFF2-40B4-BE49-F238E27FC236}">
                <a16:creationId xmlns:a16="http://schemas.microsoft.com/office/drawing/2014/main" id="{2FA8531E-D039-4E54-A96E-95850B98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819775"/>
            <a:ext cx="419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200x</a:t>
            </a:r>
          </a:p>
        </p:txBody>
      </p:sp>
      <p:sp>
        <p:nvSpPr>
          <p:cNvPr id="42" name="gqm-open-key-results-r3-c1">
            <a:extLst xmlns:a="http://schemas.openxmlformats.org/drawingml/2006/main">
              <a:ext uri="{FF2B5EF4-FFF2-40B4-BE49-F238E27FC236}">
                <a16:creationId xmlns:a16="http://schemas.microsoft.com/office/drawing/2014/main" id="{38655491-2E4F-47DD-AF4C-D0BBD1E9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9775"/>
            <a:ext cx="647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30.60K</a:t>
            </a:r>
          </a:p>
        </p:txBody>
      </p:sp>
      <p:sp>
        <p:nvSpPr>
          <p:cNvPr id="43" name="gqm-open-key-results-r3-c2">
            <a:extLst xmlns:a="http://schemas.openxmlformats.org/drawingml/2006/main">
              <a:ext uri="{FF2B5EF4-FFF2-40B4-BE49-F238E27FC236}">
                <a16:creationId xmlns:a16="http://schemas.microsoft.com/office/drawing/2014/main" id="{01AE69C7-B1A1-41E0-AE7C-4F97C66A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819775"/>
            <a:ext cx="83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15.781 ms</a:t>
            </a:r>
          </a:p>
        </p:txBody>
      </p:sp>
      <p:sp>
        <p:nvSpPr>
          <p:cNvPr id="44" name="gqm-open-key-results-r3-c3">
            <a:extLst xmlns:a="http://schemas.openxmlformats.org/drawingml/2006/main">
              <a:ext uri="{FF2B5EF4-FFF2-40B4-BE49-F238E27FC236}">
                <a16:creationId xmlns:a16="http://schemas.microsoft.com/office/drawing/2014/main" id="{8952E3FC-3ED3-43F8-BEDD-75D69376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819775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16.473 ms</a:t>
            </a:r>
          </a:p>
        </p:txBody>
      </p:sp>
      <p:sp>
        <p:nvSpPr>
          <p:cNvPr id="45" name="gqm-open-result-bg">
            <a:extLst xmlns:a="http://schemas.openxmlformats.org/drawingml/2006/main">
              <a:ext uri="{FF2B5EF4-FFF2-40B4-BE49-F238E27FC236}">
                <a16:creationId xmlns:a16="http://schemas.microsoft.com/office/drawing/2014/main" id="{B11A3296-442C-44A4-ADE2-B3D4DD52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476875"/>
            <a:ext cx="77533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6" name="gqm-open-result-text">
            <a:extLst xmlns:a="http://schemas.openxmlformats.org/drawingml/2006/main">
              <a:ext uri="{FF2B5EF4-FFF2-40B4-BE49-F238E27FC236}">
                <a16:creationId xmlns:a16="http://schemas.microsoft.com/office/drawing/2014/main" id="{DE9F2F21-7B0F-4CE1-8E9D-9FDF8EED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62600"/>
            <a:ext cx="74866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当前 35K envelope 中，100x 出现明显 latency 跳升；200x 同时出现 completed QPS 下降。</a:t>
            </a:r>
          </a:p>
        </p:txBody>
      </p:sp>
    </p:spTree>
    <p:extLst>
      <p:ext uri="{BB962C8B-B14F-4D97-AF65-F5344CB8AC3E}">
        <p14:creationId xmlns:p14="http://schemas.microsoft.com/office/powerpoint/2010/main" val="91371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accent-2">
            <a:extLst xmlns:a="http://schemas.openxmlformats.org/drawingml/2006/main">
              <a:ext uri="{FF2B5EF4-FFF2-40B4-BE49-F238E27FC236}">
                <a16:creationId xmlns:a16="http://schemas.microsoft.com/office/drawing/2014/main" id="{A086D294-0750-41AF-BACA-12BA2631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CA4588D-BCF3-4F88-810E-57FD712E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13919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cpp2 与 VA FLAT Fixed-outstanding Delay Sweep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7A33F267-FC0A-4613-B1D7-B63A43B1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2">
            <a:extLst xmlns:a="http://schemas.openxmlformats.org/drawingml/2006/main">
              <a:ext uri="{FF2B5EF4-FFF2-40B4-BE49-F238E27FC236}">
                <a16:creationId xmlns:a16="http://schemas.microsoft.com/office/drawing/2014/main" id="{329D645C-37D7-49CD-AF75-A8E80218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gqm_injected_delay_sweep/README.md · EDR-0003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CF8636F0-23AD-4BFC-8562-45BDDE87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6" name="gqm-fixed-conditions-bg">
            <a:extLst xmlns:a="http://schemas.openxmlformats.org/drawingml/2006/main">
              <a:ext uri="{FF2B5EF4-FFF2-40B4-BE49-F238E27FC236}">
                <a16:creationId xmlns:a16="http://schemas.microsoft.com/office/drawing/2014/main" id="{A46A428A-140F-413A-8D47-19861B7B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19175"/>
            <a:ext cx="1139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gqm-fixed-conditions-text">
            <a:extLst xmlns:a="http://schemas.openxmlformats.org/drawingml/2006/main">
              <a:ext uri="{FF2B5EF4-FFF2-40B4-BE49-F238E27FC236}">
                <a16:creationId xmlns:a16="http://schemas.microsoft.com/office/drawing/2014/main" id="{400674AC-1BE4-4BA5-8237-C362F869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K=100 fixed outstanding · 0x–200x · 10 s active window · normalized within each path · single run / point</a:t>
            </a:r>
          </a:p>
        </p:txBody>
      </p:sp>
      <p:sp>
        <p:nvSpPr>
          <p:cNvPr id="8" name="gqm-cpp2-label-rule">
            <a:extLst xmlns:a="http://schemas.openxmlformats.org/drawingml/2006/main">
              <a:ext uri="{FF2B5EF4-FFF2-40B4-BE49-F238E27FC236}">
                <a16:creationId xmlns:a16="http://schemas.microsoft.com/office/drawing/2014/main" id="{54F32FA1-4728-4BD2-952C-694B7DA4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qm-cpp2-label-text">
            <a:extLst xmlns:a="http://schemas.openxmlformats.org/drawingml/2006/main">
              <a:ext uri="{FF2B5EF4-FFF2-40B4-BE49-F238E27FC236}">
                <a16:creationId xmlns:a16="http://schemas.microsoft.com/office/drawing/2014/main" id="{DC16C4F1-1982-4CFC-AA54-6F0F2D8B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552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cpp2 noop · server 1 IO + 1 CPU</a:t>
            </a:r>
          </a:p>
        </p:txBody>
      </p:sp>
      <p:sp>
        <p:nvSpPr>
          <p:cNvPr id="10" name="gqm-va-label-rule">
            <a:extLst xmlns:a="http://schemas.openxmlformats.org/drawingml/2006/main">
              <a:ext uri="{FF2B5EF4-FFF2-40B4-BE49-F238E27FC236}">
                <a16:creationId xmlns:a16="http://schemas.microsoft.com/office/drawing/2014/main" id="{A43AD71A-DE08-4FC0-A7DD-9392F521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382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qm-va-label-text">
            <a:extLst xmlns:a="http://schemas.openxmlformats.org/drawingml/2006/main">
              <a:ext uri="{FF2B5EF4-FFF2-40B4-BE49-F238E27FC236}">
                <a16:creationId xmlns:a16="http://schemas.microsoft.com/office/drawing/2014/main" id="{C5DB8239-A544-4D3F-AB67-FA58A06D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14475"/>
            <a:ext cx="552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VA FLAT echo 1 KiB · server 1 IO + 0 CPU</a:t>
            </a:r>
          </a:p>
        </p:txBody>
      </p:sp>
      <p:sp>
        <p:nvSpPr>
          <p:cNvPr id="12" name="gqm-cpp2-figure-border">
            <a:extLst xmlns:a="http://schemas.openxmlformats.org/drawingml/2006/main">
              <a:ext uri="{FF2B5EF4-FFF2-40B4-BE49-F238E27FC236}">
                <a16:creationId xmlns:a16="http://schemas.microsoft.com/office/drawing/2014/main" id="{FB95643B-01F2-437F-A48B-EFD9F3FC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55245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c00a306914f52"/>
          <a:stretch xmlns:a="http://schemas.openxmlformats.org/drawingml/2006/main"/>
        </p:blipFill>
        <p:spPr>
          <a:xfrm xmlns:a="http://schemas.openxmlformats.org/drawingml/2006/main">
            <a:off x="831317" y="1743075"/>
            <a:ext cx="4661965" cy="3314700"/>
          </a:xfrm>
          <a:prstGeom xmlns:a="http://schemas.openxmlformats.org/drawingml/2006/main" prst="rect">
            <a:avLst/>
          </a:prstGeom>
        </p:spPr>
      </p:pic>
      <p:sp>
        <p:nvSpPr>
          <p:cNvPr id="14" name="gqm-va-figure-border">
            <a:extLst xmlns:a="http://schemas.openxmlformats.org/drawingml/2006/main">
              <a:ext uri="{FF2B5EF4-FFF2-40B4-BE49-F238E27FC236}">
                <a16:creationId xmlns:a16="http://schemas.microsoft.com/office/drawing/2014/main" id="{50E15C67-401D-487C-9F91-C53A7BD2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24025"/>
            <a:ext cx="55245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4188307a04ae4"/>
          <a:stretch xmlns:a="http://schemas.openxmlformats.org/drawingml/2006/main"/>
        </p:blipFill>
        <p:spPr>
          <a:xfrm xmlns:a="http://schemas.openxmlformats.org/drawingml/2006/main">
            <a:off x="7138065" y="1743075"/>
            <a:ext cx="3783270" cy="3314700"/>
          </a:xfrm>
          <a:prstGeom xmlns:a="http://schemas.openxmlformats.org/drawingml/2006/main" prst="rect">
            <a:avLst/>
          </a:prstGeom>
        </p:spPr>
      </p:pic>
      <p:sp>
        <p:nvSpPr>
          <p:cNvPr id="16" name="gqm-cpp2-matrix-header">
            <a:extLst xmlns:a="http://schemas.openxmlformats.org/drawingml/2006/main">
              <a:ext uri="{FF2B5EF4-FFF2-40B4-BE49-F238E27FC236}">
                <a16:creationId xmlns:a16="http://schemas.microsoft.com/office/drawing/2014/main" id="{20058ED6-A439-4DBC-AE2A-7236299D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gqm-cpp2-matrix-header-0">
            <a:extLst xmlns:a="http://schemas.openxmlformats.org/drawingml/2006/main">
              <a:ext uri="{FF2B5EF4-FFF2-40B4-BE49-F238E27FC236}">
                <a16:creationId xmlns:a16="http://schemas.microsoft.com/office/drawing/2014/main" id="{B5538333-1A08-4751-8206-C4DFF745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210175"/>
            <a:ext cx="1200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Metric</a:t>
            </a:r>
          </a:p>
        </p:txBody>
      </p:sp>
      <p:sp>
        <p:nvSpPr>
          <p:cNvPr id="18" name="gqm-cpp2-matrix-header-1">
            <a:extLst xmlns:a="http://schemas.openxmlformats.org/drawingml/2006/main">
              <a:ext uri="{FF2B5EF4-FFF2-40B4-BE49-F238E27FC236}">
                <a16:creationId xmlns:a16="http://schemas.microsoft.com/office/drawing/2014/main" id="{22D9ED9A-4377-4784-B48E-9EEF3B51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2101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0x</a:t>
            </a:r>
          </a:p>
        </p:txBody>
      </p:sp>
      <p:sp>
        <p:nvSpPr>
          <p:cNvPr id="19" name="gqm-cpp2-matrix-header-2">
            <a:extLst xmlns:a="http://schemas.openxmlformats.org/drawingml/2006/main">
              <a:ext uri="{FF2B5EF4-FFF2-40B4-BE49-F238E27FC236}">
                <a16:creationId xmlns:a16="http://schemas.microsoft.com/office/drawing/2014/main" id="{F890C2CB-377D-4485-B8D2-CAD1172C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2101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40x</a:t>
            </a:r>
          </a:p>
        </p:txBody>
      </p:sp>
      <p:sp>
        <p:nvSpPr>
          <p:cNvPr id="20" name="gqm-cpp2-matrix-header-3">
            <a:extLst xmlns:a="http://schemas.openxmlformats.org/drawingml/2006/main">
              <a:ext uri="{FF2B5EF4-FFF2-40B4-BE49-F238E27FC236}">
                <a16:creationId xmlns:a16="http://schemas.microsoft.com/office/drawing/2014/main" id="{FFE56EFB-F52F-4047-A6FB-44790347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2101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100x</a:t>
            </a:r>
          </a:p>
        </p:txBody>
      </p:sp>
      <p:sp>
        <p:nvSpPr>
          <p:cNvPr id="21" name="gqm-cpp2-matrix-header-4">
            <a:extLst xmlns:a="http://schemas.openxmlformats.org/drawingml/2006/main">
              <a:ext uri="{FF2B5EF4-FFF2-40B4-BE49-F238E27FC236}">
                <a16:creationId xmlns:a16="http://schemas.microsoft.com/office/drawing/2014/main" id="{7D0FF9D5-8A4E-4B3A-A121-06A08497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2101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200x</a:t>
            </a:r>
          </a:p>
        </p:txBody>
      </p:sp>
      <p:sp>
        <p:nvSpPr>
          <p:cNvPr id="22" name="gqm-cpp2-matrix-row-0">
            <a:extLst xmlns:a="http://schemas.openxmlformats.org/drawingml/2006/main">
              <a:ext uri="{FF2B5EF4-FFF2-40B4-BE49-F238E27FC236}">
                <a16:creationId xmlns:a16="http://schemas.microsoft.com/office/drawing/2014/main" id="{FB8B2A13-A797-4872-AAAF-3FE3AB22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gqm-cpp2-matrix-r0-c0">
            <a:extLst xmlns:a="http://schemas.openxmlformats.org/drawingml/2006/main">
              <a:ext uri="{FF2B5EF4-FFF2-40B4-BE49-F238E27FC236}">
                <a16:creationId xmlns:a16="http://schemas.microsoft.com/office/drawing/2014/main" id="{C6CC0DC9-4D11-4CE9-B83E-42C86249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438775"/>
            <a:ext cx="1200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QPS retained</a:t>
            </a:r>
          </a:p>
        </p:txBody>
      </p:sp>
      <p:sp>
        <p:nvSpPr>
          <p:cNvPr id="24" name="gqm-cpp2-matrix-r0-c1">
            <a:extLst xmlns:a="http://schemas.openxmlformats.org/drawingml/2006/main">
              <a:ext uri="{FF2B5EF4-FFF2-40B4-BE49-F238E27FC236}">
                <a16:creationId xmlns:a16="http://schemas.microsoft.com/office/drawing/2014/main" id="{6EB4A077-C011-4B89-8C64-D875C196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4387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100.00%</a:t>
            </a:r>
          </a:p>
        </p:txBody>
      </p:sp>
      <p:sp>
        <p:nvSpPr>
          <p:cNvPr id="25" name="gqm-cpp2-matrix-r0-c2">
            <a:extLst xmlns:a="http://schemas.openxmlformats.org/drawingml/2006/main">
              <a:ext uri="{FF2B5EF4-FFF2-40B4-BE49-F238E27FC236}">
                <a16:creationId xmlns:a16="http://schemas.microsoft.com/office/drawing/2014/main" id="{0AFDEE2B-3868-4F8B-AE1D-68E43268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4387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94.21%</a:t>
            </a:r>
          </a:p>
        </p:txBody>
      </p:sp>
      <p:sp>
        <p:nvSpPr>
          <p:cNvPr id="26" name="gqm-cpp2-matrix-r0-c3">
            <a:extLst xmlns:a="http://schemas.openxmlformats.org/drawingml/2006/main">
              <a:ext uri="{FF2B5EF4-FFF2-40B4-BE49-F238E27FC236}">
                <a16:creationId xmlns:a16="http://schemas.microsoft.com/office/drawing/2014/main" id="{56314DC3-1C2E-4040-905F-BF640E15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4387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87.54%</a:t>
            </a:r>
          </a:p>
        </p:txBody>
      </p:sp>
      <p:sp>
        <p:nvSpPr>
          <p:cNvPr id="27" name="gqm-cpp2-matrix-r0-c4">
            <a:extLst xmlns:a="http://schemas.openxmlformats.org/drawingml/2006/main">
              <a:ext uri="{FF2B5EF4-FFF2-40B4-BE49-F238E27FC236}">
                <a16:creationId xmlns:a16="http://schemas.microsoft.com/office/drawing/2014/main" id="{6601D415-63FA-445B-84AF-C41D561E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4387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78.13%</a:t>
            </a:r>
          </a:p>
        </p:txBody>
      </p:sp>
      <p:sp>
        <p:nvSpPr>
          <p:cNvPr id="28" name="gqm-cpp2-matrix-row-1">
            <a:extLst xmlns:a="http://schemas.openxmlformats.org/drawingml/2006/main">
              <a:ext uri="{FF2B5EF4-FFF2-40B4-BE49-F238E27FC236}">
                <a16:creationId xmlns:a16="http://schemas.microsoft.com/office/drawing/2014/main" id="{AEDA0107-E748-4DE4-A296-8276C761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gqm-cpp2-matrix-r1-c0">
            <a:extLst xmlns:a="http://schemas.openxmlformats.org/drawingml/2006/main">
              <a:ext uri="{FF2B5EF4-FFF2-40B4-BE49-F238E27FC236}">
                <a16:creationId xmlns:a16="http://schemas.microsoft.com/office/drawing/2014/main" id="{00CAE1B3-625F-448F-A061-585A9E71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67375"/>
            <a:ext cx="1200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p99 / base</a:t>
            </a:r>
          </a:p>
        </p:txBody>
      </p:sp>
      <p:sp>
        <p:nvSpPr>
          <p:cNvPr id="30" name="gqm-cpp2-matrix-r1-c1">
            <a:extLst xmlns:a="http://schemas.openxmlformats.org/drawingml/2006/main">
              <a:ext uri="{FF2B5EF4-FFF2-40B4-BE49-F238E27FC236}">
                <a16:creationId xmlns:a16="http://schemas.microsoft.com/office/drawing/2014/main" id="{EAAAA3D3-DE59-4E12-8E06-A7908E84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6673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1.000x</a:t>
            </a:r>
          </a:p>
        </p:txBody>
      </p:sp>
      <p:sp>
        <p:nvSpPr>
          <p:cNvPr id="31" name="gqm-cpp2-matrix-r1-c2">
            <a:extLst xmlns:a="http://schemas.openxmlformats.org/drawingml/2006/main">
              <a:ext uri="{FF2B5EF4-FFF2-40B4-BE49-F238E27FC236}">
                <a16:creationId xmlns:a16="http://schemas.microsoft.com/office/drawing/2014/main" id="{EABF4567-CA7B-4672-893B-0FD669CB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6673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1.063x</a:t>
            </a:r>
          </a:p>
        </p:txBody>
      </p:sp>
      <p:sp>
        <p:nvSpPr>
          <p:cNvPr id="32" name="gqm-cpp2-matrix-r1-c3">
            <a:extLst xmlns:a="http://schemas.openxmlformats.org/drawingml/2006/main">
              <a:ext uri="{FF2B5EF4-FFF2-40B4-BE49-F238E27FC236}">
                <a16:creationId xmlns:a16="http://schemas.microsoft.com/office/drawing/2014/main" id="{5FEF51E6-8318-44F7-9DE8-D706884B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6673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1.146x</a:t>
            </a:r>
          </a:p>
        </p:txBody>
      </p:sp>
      <p:sp>
        <p:nvSpPr>
          <p:cNvPr id="33" name="gqm-cpp2-matrix-r1-c4">
            <a:extLst xmlns:a="http://schemas.openxmlformats.org/drawingml/2006/main">
              <a:ext uri="{FF2B5EF4-FFF2-40B4-BE49-F238E27FC236}">
                <a16:creationId xmlns:a16="http://schemas.microsoft.com/office/drawing/2014/main" id="{167846EC-ED9E-4BCF-A9DD-1966933F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6673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1.273x</a:t>
            </a:r>
          </a:p>
        </p:txBody>
      </p:sp>
      <p:sp>
        <p:nvSpPr>
          <p:cNvPr id="34" name="gqm-va-matrix-header">
            <a:extLst xmlns:a="http://schemas.openxmlformats.org/drawingml/2006/main">
              <a:ext uri="{FF2B5EF4-FFF2-40B4-BE49-F238E27FC236}">
                <a16:creationId xmlns:a16="http://schemas.microsoft.com/office/drawing/2014/main" id="{2EE745E7-309C-4C6D-B17D-50F2F06F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6255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gqm-va-matrix-header-0">
            <a:extLst xmlns:a="http://schemas.openxmlformats.org/drawingml/2006/main">
              <a:ext uri="{FF2B5EF4-FFF2-40B4-BE49-F238E27FC236}">
                <a16:creationId xmlns:a16="http://schemas.microsoft.com/office/drawing/2014/main" id="{1C1AAB87-089E-467F-85D1-4419575B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10175"/>
            <a:ext cx="1200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Metric</a:t>
            </a:r>
          </a:p>
        </p:txBody>
      </p:sp>
      <p:sp>
        <p:nvSpPr>
          <p:cNvPr id="36" name="gqm-va-matrix-header-1">
            <a:extLst xmlns:a="http://schemas.openxmlformats.org/drawingml/2006/main">
              <a:ext uri="{FF2B5EF4-FFF2-40B4-BE49-F238E27FC236}">
                <a16:creationId xmlns:a16="http://schemas.microsoft.com/office/drawing/2014/main" id="{194867FA-707C-457E-AEE3-24F45E72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101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0x</a:t>
            </a:r>
          </a:p>
        </p:txBody>
      </p:sp>
      <p:sp>
        <p:nvSpPr>
          <p:cNvPr id="37" name="gqm-va-matrix-header-2">
            <a:extLst xmlns:a="http://schemas.openxmlformats.org/drawingml/2006/main">
              <a:ext uri="{FF2B5EF4-FFF2-40B4-BE49-F238E27FC236}">
                <a16:creationId xmlns:a16="http://schemas.microsoft.com/office/drawing/2014/main" id="{5B4B92DD-7A56-49C2-8EAE-9E09759C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2101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40x</a:t>
            </a:r>
          </a:p>
        </p:txBody>
      </p:sp>
      <p:sp>
        <p:nvSpPr>
          <p:cNvPr id="38" name="gqm-va-matrix-header-3">
            <a:extLst xmlns:a="http://schemas.openxmlformats.org/drawingml/2006/main">
              <a:ext uri="{FF2B5EF4-FFF2-40B4-BE49-F238E27FC236}">
                <a16:creationId xmlns:a16="http://schemas.microsoft.com/office/drawing/2014/main" id="{738E5B2E-BC08-4CB5-8DA2-87EB3BDD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2101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100x</a:t>
            </a:r>
          </a:p>
        </p:txBody>
      </p:sp>
      <p:sp>
        <p:nvSpPr>
          <p:cNvPr id="39" name="gqm-va-matrix-header-4">
            <a:extLst xmlns:a="http://schemas.openxmlformats.org/drawingml/2006/main">
              <a:ext uri="{FF2B5EF4-FFF2-40B4-BE49-F238E27FC236}">
                <a16:creationId xmlns:a16="http://schemas.microsoft.com/office/drawing/2014/main" id="{0EBEADFF-B816-4DC9-BD3C-E1E3FC0B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101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200x</a:t>
            </a:r>
          </a:p>
        </p:txBody>
      </p:sp>
      <p:sp>
        <p:nvSpPr>
          <p:cNvPr id="40" name="gqm-va-matrix-row-0">
            <a:extLst xmlns:a="http://schemas.openxmlformats.org/drawingml/2006/main">
              <a:ext uri="{FF2B5EF4-FFF2-40B4-BE49-F238E27FC236}">
                <a16:creationId xmlns:a16="http://schemas.microsoft.com/office/drawing/2014/main" id="{BB6A3740-A4EA-44E0-8B9B-AE884C8B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9115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gqm-va-matrix-r0-c0">
            <a:extLst xmlns:a="http://schemas.openxmlformats.org/drawingml/2006/main">
              <a:ext uri="{FF2B5EF4-FFF2-40B4-BE49-F238E27FC236}">
                <a16:creationId xmlns:a16="http://schemas.microsoft.com/office/drawing/2014/main" id="{BE568284-D097-49CA-ADE2-C67846DB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38775"/>
            <a:ext cx="1200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QPS retained</a:t>
            </a:r>
          </a:p>
        </p:txBody>
      </p:sp>
      <p:sp>
        <p:nvSpPr>
          <p:cNvPr id="42" name="gqm-va-matrix-r0-c1">
            <a:extLst xmlns:a="http://schemas.openxmlformats.org/drawingml/2006/main">
              <a:ext uri="{FF2B5EF4-FFF2-40B4-BE49-F238E27FC236}">
                <a16:creationId xmlns:a16="http://schemas.microsoft.com/office/drawing/2014/main" id="{F32C8FC8-9D09-4DB8-888F-FEADDEC6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387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100.00%</a:t>
            </a:r>
          </a:p>
        </p:txBody>
      </p:sp>
      <p:sp>
        <p:nvSpPr>
          <p:cNvPr id="43" name="gqm-va-matrix-r0-c2">
            <a:extLst xmlns:a="http://schemas.openxmlformats.org/drawingml/2006/main">
              <a:ext uri="{FF2B5EF4-FFF2-40B4-BE49-F238E27FC236}">
                <a16:creationId xmlns:a16="http://schemas.microsoft.com/office/drawing/2014/main" id="{5F95F2C3-27B4-46F6-985B-3D030D6F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4387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38.77%</a:t>
            </a:r>
          </a:p>
        </p:txBody>
      </p:sp>
      <p:sp>
        <p:nvSpPr>
          <p:cNvPr id="44" name="gqm-va-matrix-r0-c3">
            <a:extLst xmlns:a="http://schemas.openxmlformats.org/drawingml/2006/main">
              <a:ext uri="{FF2B5EF4-FFF2-40B4-BE49-F238E27FC236}">
                <a16:creationId xmlns:a16="http://schemas.microsoft.com/office/drawing/2014/main" id="{5F55BABB-D527-4291-A4B5-98B6E78F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4387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16.23%</a:t>
            </a:r>
          </a:p>
        </p:txBody>
      </p:sp>
      <p:sp>
        <p:nvSpPr>
          <p:cNvPr id="45" name="gqm-va-matrix-r0-c4">
            <a:extLst xmlns:a="http://schemas.openxmlformats.org/drawingml/2006/main">
              <a:ext uri="{FF2B5EF4-FFF2-40B4-BE49-F238E27FC236}">
                <a16:creationId xmlns:a16="http://schemas.microsoft.com/office/drawing/2014/main" id="{16BE8EFE-C749-4B69-85B4-0A4DE53F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4387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8.81%</a:t>
            </a:r>
          </a:p>
        </p:txBody>
      </p:sp>
      <p:sp>
        <p:nvSpPr>
          <p:cNvPr id="46" name="gqm-va-matrix-row-1">
            <a:extLst xmlns:a="http://schemas.openxmlformats.org/drawingml/2006/main">
              <a:ext uri="{FF2B5EF4-FFF2-40B4-BE49-F238E27FC236}">
                <a16:creationId xmlns:a16="http://schemas.microsoft.com/office/drawing/2014/main" id="{46FB9326-2BD2-4669-AE46-C918B04F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1975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gqm-va-matrix-r1-c0">
            <a:extLst xmlns:a="http://schemas.openxmlformats.org/drawingml/2006/main">
              <a:ext uri="{FF2B5EF4-FFF2-40B4-BE49-F238E27FC236}">
                <a16:creationId xmlns:a16="http://schemas.microsoft.com/office/drawing/2014/main" id="{83268F64-333B-454F-B6AD-00065240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67375"/>
            <a:ext cx="1200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p99 / base</a:t>
            </a:r>
          </a:p>
        </p:txBody>
      </p:sp>
      <p:sp>
        <p:nvSpPr>
          <p:cNvPr id="48" name="gqm-va-matrix-r1-c1">
            <a:extLst xmlns:a="http://schemas.openxmlformats.org/drawingml/2006/main">
              <a:ext uri="{FF2B5EF4-FFF2-40B4-BE49-F238E27FC236}">
                <a16:creationId xmlns:a16="http://schemas.microsoft.com/office/drawing/2014/main" id="{5FDFC71D-E6E0-48EB-A99E-6F5E7903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6673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1.000x</a:t>
            </a:r>
          </a:p>
        </p:txBody>
      </p:sp>
      <p:sp>
        <p:nvSpPr>
          <p:cNvPr id="49" name="gqm-va-matrix-r1-c2">
            <a:extLst xmlns:a="http://schemas.openxmlformats.org/drawingml/2006/main">
              <a:ext uri="{FF2B5EF4-FFF2-40B4-BE49-F238E27FC236}">
                <a16:creationId xmlns:a16="http://schemas.microsoft.com/office/drawing/2014/main" id="{EE806FB8-1945-48F0-9A31-8312473B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6673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2.611x</a:t>
            </a:r>
          </a:p>
        </p:txBody>
      </p:sp>
      <p:sp>
        <p:nvSpPr>
          <p:cNvPr id="50" name="gqm-va-matrix-r1-c3">
            <a:extLst xmlns:a="http://schemas.openxmlformats.org/drawingml/2006/main">
              <a:ext uri="{FF2B5EF4-FFF2-40B4-BE49-F238E27FC236}">
                <a16:creationId xmlns:a16="http://schemas.microsoft.com/office/drawing/2014/main" id="{F163023A-3910-4ED7-91CA-DDF15986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6673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6.208x</a:t>
            </a:r>
          </a:p>
        </p:txBody>
      </p:sp>
      <p:sp>
        <p:nvSpPr>
          <p:cNvPr id="51" name="gqm-va-matrix-r1-c4">
            <a:extLst xmlns:a="http://schemas.openxmlformats.org/drawingml/2006/main">
              <a:ext uri="{FF2B5EF4-FFF2-40B4-BE49-F238E27FC236}">
                <a16:creationId xmlns:a16="http://schemas.microsoft.com/office/drawing/2014/main" id="{9FA45915-8C16-4E94-BEA5-9C4E88B1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667375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11.355x</a:t>
            </a:r>
          </a:p>
        </p:txBody>
      </p:sp>
      <p:sp>
        <p:nvSpPr>
          <p:cNvPr id="52" name="gqm-fixed-result-bg">
            <a:extLst xmlns:a="http://schemas.openxmlformats.org/drawingml/2006/main">
              <a:ext uri="{FF2B5EF4-FFF2-40B4-BE49-F238E27FC236}">
                <a16:creationId xmlns:a16="http://schemas.microsoft.com/office/drawing/2014/main" id="{894400D0-3F20-4D1D-A078-FDF13507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76925"/>
            <a:ext cx="11391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53" name="gqm-fixed-result-text">
            <a:extLst xmlns:a="http://schemas.openxmlformats.org/drawingml/2006/main">
              <a:ext uri="{FF2B5EF4-FFF2-40B4-BE49-F238E27FC236}">
                <a16:creationId xmlns:a16="http://schemas.microsoft.com/office/drawing/2014/main" id="{170DBBB0-FEEB-4C9C-B048-BFADB531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112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两条路径对相同注入倍率呈现不同的 normalized QPS 与 p99 响应；workload 与 CPU 配置不同，不构成绝对性能 A/B。</a:t>
            </a:r>
          </a:p>
        </p:txBody>
      </p:sp>
    </p:spTree>
    <p:extLst>
      <p:ext uri="{BB962C8B-B14F-4D97-AF65-F5344CB8AC3E}">
        <p14:creationId xmlns:p14="http://schemas.microsoft.com/office/powerpoint/2010/main" val="760576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accent-3">
            <a:extLst xmlns:a="http://schemas.openxmlformats.org/drawingml/2006/main">
              <a:ext uri="{FF2B5EF4-FFF2-40B4-BE49-F238E27FC236}">
                <a16:creationId xmlns:a16="http://schemas.microsoft.com/office/drawing/2014/main" id="{1836ADB1-32AE-4291-AE5A-D6817C79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B0B6337-7FDC-4696-B4DF-E1583CD4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13919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GQM Wrapper 注入校准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574D4645-FBEF-4EBF-92A4-529F85EC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3">
            <a:extLst xmlns:a="http://schemas.openxmlformats.org/drawingml/2006/main">
              <a:ext uri="{FF2B5EF4-FFF2-40B4-BE49-F238E27FC236}">
                <a16:creationId xmlns:a16="http://schemas.microsoft.com/office/drawing/2014/main" id="{89ADD236-BF33-4516-A5B0-AE887FD6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gqm_injected_delay_sweep/README.md · microbenchmark calibration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21B17EEC-4392-4F4E-8512-23DC9846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6" name="gqm-calibration-conditions-bg">
            <a:extLst xmlns:a="http://schemas.openxmlformats.org/drawingml/2006/main">
              <a:ext uri="{FF2B5EF4-FFF2-40B4-BE49-F238E27FC236}">
                <a16:creationId xmlns:a16="http://schemas.microsoft.com/office/drawing/2014/main" id="{143766AC-6A3C-4702-878E-FEF5D359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19175"/>
            <a:ext cx="1139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gqm-calibration-conditions-text">
            <a:extLst xmlns:a="http://schemas.openxmlformats.org/drawingml/2006/main">
              <a:ext uri="{FF2B5EF4-FFF2-40B4-BE49-F238E27FC236}">
                <a16:creationId xmlns:a16="http://schemas.microsoft.com/office/drawing/2014/main" id="{9664BDF1-C8D2-49ED-86D6-79E105A9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bm_min_iters=100000 · configured delay={0,100,1000} ns · successful wrapper operations normalized per operation</a:t>
            </a:r>
          </a:p>
        </p:txBody>
      </p:sp>
      <p:sp>
        <p:nvSpPr>
          <p:cNvPr id="8" name="gqm-calibration-label-rule">
            <a:extLst xmlns:a="http://schemas.openxmlformats.org/drawingml/2006/main">
              <a:ext uri="{FF2B5EF4-FFF2-40B4-BE49-F238E27FC236}">
                <a16:creationId xmlns:a16="http://schemas.microsoft.com/office/drawing/2014/main" id="{B7EEE99C-E530-449F-A94C-B4162C26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qm-calibration-label-text">
            <a:extLst xmlns:a="http://schemas.openxmlformats.org/drawingml/2006/main">
              <a:ext uri="{FF2B5EF4-FFF2-40B4-BE49-F238E27FC236}">
                <a16:creationId xmlns:a16="http://schemas.microsoft.com/office/drawing/2014/main" id="{540339AC-7ACB-4DDF-8C98-54BFE86C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Microbenchmark calibration</a:t>
            </a:r>
          </a:p>
        </p:txBody>
      </p:sp>
      <p:sp>
        <p:nvSpPr>
          <p:cNvPr id="10" name="gqm-comparison-label-rule">
            <a:extLst xmlns:a="http://schemas.openxmlformats.org/drawingml/2006/main">
              <a:ext uri="{FF2B5EF4-FFF2-40B4-BE49-F238E27FC236}">
                <a16:creationId xmlns:a16="http://schemas.microsoft.com/office/drawing/2014/main" id="{09EF2061-4373-4DB7-AC6C-37DAA6B5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382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qm-comparison-label-text">
            <a:extLst xmlns:a="http://schemas.openxmlformats.org/drawingml/2006/main">
              <a:ext uri="{FF2B5EF4-FFF2-40B4-BE49-F238E27FC236}">
                <a16:creationId xmlns:a16="http://schemas.microsoft.com/office/drawing/2014/main" id="{7412768C-A383-4B7C-B3B3-5C27F8EB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14475"/>
            <a:ext cx="396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Fixed-outstanding 结果对照</a:t>
            </a:r>
          </a:p>
        </p:txBody>
      </p:sp>
      <p:sp>
        <p:nvSpPr>
          <p:cNvPr id="12" name="gqm-calibration-figure-border">
            <a:extLst xmlns:a="http://schemas.openxmlformats.org/drawingml/2006/main">
              <a:ext uri="{FF2B5EF4-FFF2-40B4-BE49-F238E27FC236}">
                <a16:creationId xmlns:a16="http://schemas.microsoft.com/office/drawing/2014/main" id="{4F897E54-9484-42D1-94E1-DCD0B71A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723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ec4f27dbf4a7f"/>
          <a:stretch xmlns:a="http://schemas.openxmlformats.org/drawingml/2006/main"/>
        </p:blipFill>
        <p:spPr>
          <a:xfrm xmlns:a="http://schemas.openxmlformats.org/drawingml/2006/main">
            <a:off x="444542" y="1743075"/>
            <a:ext cx="7150016" cy="3105150"/>
          </a:xfrm>
          <a:prstGeom xmlns:a="http://schemas.openxmlformats.org/drawingml/2006/main" prst="rect">
            <a:avLst/>
          </a:prstGeom>
        </p:spPr>
      </p:pic>
      <p:sp>
        <p:nvSpPr>
          <p:cNvPr id="14" name="gqm-comparison-figure-border">
            <a:extLst xmlns:a="http://schemas.openxmlformats.org/drawingml/2006/main">
              <a:ext uri="{FF2B5EF4-FFF2-40B4-BE49-F238E27FC236}">
                <a16:creationId xmlns:a16="http://schemas.microsoft.com/office/drawing/2014/main" id="{FB46E4FE-E947-486B-9EB7-7D7CDABE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24025"/>
            <a:ext cx="3962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8701518a34d74"/>
          <a:stretch xmlns:a="http://schemas.openxmlformats.org/drawingml/2006/main"/>
        </p:blipFill>
        <p:spPr>
          <a:xfrm xmlns:a="http://schemas.openxmlformats.org/drawingml/2006/main">
            <a:off x="7869657" y="1743075"/>
            <a:ext cx="3882186" cy="1714500"/>
          </a:xfrm>
          <a:prstGeom xmlns:a="http://schemas.openxmlformats.org/drawingml/2006/main" prst="rect">
            <a:avLst/>
          </a:prstGeom>
        </p:spPr>
      </p:pic>
      <p:sp>
        <p:nvSpPr>
          <p:cNvPr id="16" name="gqm-calibration-table-header">
            <a:extLst xmlns:a="http://schemas.openxmlformats.org/drawingml/2006/main">
              <a:ext uri="{FF2B5EF4-FFF2-40B4-BE49-F238E27FC236}">
                <a16:creationId xmlns:a16="http://schemas.microsoft.com/office/drawing/2014/main" id="{2098E6D9-610F-4A96-B1F9-8D723799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62350"/>
            <a:ext cx="3810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gqm-calibration-table-header-0">
            <a:extLst xmlns:a="http://schemas.openxmlformats.org/drawingml/2006/main">
              <a:ext uri="{FF2B5EF4-FFF2-40B4-BE49-F238E27FC236}">
                <a16:creationId xmlns:a16="http://schemas.microsoft.com/office/drawing/2014/main" id="{0C770D90-5E80-40BF-BD67-068A4A0C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609975"/>
            <a:ext cx="14478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Benchmark</a:t>
            </a:r>
          </a:p>
        </p:txBody>
      </p:sp>
      <p:sp>
        <p:nvSpPr>
          <p:cNvPr id="18" name="gqm-calibration-table-header-1">
            <a:extLst xmlns:a="http://schemas.openxmlformats.org/drawingml/2006/main">
              <a:ext uri="{FF2B5EF4-FFF2-40B4-BE49-F238E27FC236}">
                <a16:creationId xmlns:a16="http://schemas.microsoft.com/office/drawing/2014/main" id="{9889CD27-64EB-4F95-86B5-D2D080B6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609975"/>
            <a:ext cx="9334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+100 ns</a:t>
            </a:r>
          </a:p>
        </p:txBody>
      </p:sp>
      <p:sp>
        <p:nvSpPr>
          <p:cNvPr id="19" name="gqm-calibration-table-header-2">
            <a:extLst xmlns:a="http://schemas.openxmlformats.org/drawingml/2006/main">
              <a:ext uri="{FF2B5EF4-FFF2-40B4-BE49-F238E27FC236}">
                <a16:creationId xmlns:a16="http://schemas.microsoft.com/office/drawing/2014/main" id="{E8D1B51D-E9C6-497B-B61D-1CB2E3ED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609975"/>
            <a:ext cx="10287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+1000 ns</a:t>
            </a:r>
          </a:p>
        </p:txBody>
      </p:sp>
      <p:sp>
        <p:nvSpPr>
          <p:cNvPr id="20" name="gqm-calibration-table-row-0">
            <a:extLst xmlns:a="http://schemas.openxmlformats.org/drawingml/2006/main">
              <a:ext uri="{FF2B5EF4-FFF2-40B4-BE49-F238E27FC236}">
                <a16:creationId xmlns:a16="http://schemas.microsoft.com/office/drawing/2014/main" id="{8AD91D8B-4733-4476-9A99-CFEB14DE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00475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gqm-calibration-table-r0-c0">
            <a:extLst xmlns:a="http://schemas.openxmlformats.org/drawingml/2006/main">
              <a:ext uri="{FF2B5EF4-FFF2-40B4-BE49-F238E27FC236}">
                <a16:creationId xmlns:a16="http://schemas.microsoft.com/office/drawing/2014/main" id="{1C425B1F-1324-4782-A63D-55113A40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84810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push-only / 496</a:t>
            </a:r>
          </a:p>
        </p:txBody>
      </p:sp>
      <p:sp>
        <p:nvSpPr>
          <p:cNvPr id="22" name="gqm-calibration-table-r0-c1">
            <a:extLst xmlns:a="http://schemas.openxmlformats.org/drawingml/2006/main">
              <a:ext uri="{FF2B5EF4-FFF2-40B4-BE49-F238E27FC236}">
                <a16:creationId xmlns:a16="http://schemas.microsoft.com/office/drawing/2014/main" id="{C5E0E7E2-E238-44FB-834C-149B37BE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848100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85.4 ns/op</a:t>
            </a:r>
          </a:p>
        </p:txBody>
      </p:sp>
      <p:sp>
        <p:nvSpPr>
          <p:cNvPr id="23" name="gqm-calibration-table-r0-c2">
            <a:extLst xmlns:a="http://schemas.openxmlformats.org/drawingml/2006/main">
              <a:ext uri="{FF2B5EF4-FFF2-40B4-BE49-F238E27FC236}">
                <a16:creationId xmlns:a16="http://schemas.microsoft.com/office/drawing/2014/main" id="{3E47BBBD-1EBD-46AD-9334-347091FA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48100"/>
            <a:ext cx="102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1009.8 ns/op</a:t>
            </a:r>
          </a:p>
        </p:txBody>
      </p:sp>
      <p:sp>
        <p:nvSpPr>
          <p:cNvPr id="24" name="gqm-calibration-table-row-1">
            <a:extLst xmlns:a="http://schemas.openxmlformats.org/drawingml/2006/main">
              <a:ext uri="{FF2B5EF4-FFF2-40B4-BE49-F238E27FC236}">
                <a16:creationId xmlns:a16="http://schemas.microsoft.com/office/drawing/2014/main" id="{B549489B-3960-408A-BCE8-F53B255B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67175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gqm-calibration-table-r1-c0">
            <a:extLst xmlns:a="http://schemas.openxmlformats.org/drawingml/2006/main">
              <a:ext uri="{FF2B5EF4-FFF2-40B4-BE49-F238E27FC236}">
                <a16:creationId xmlns:a16="http://schemas.microsoft.com/office/drawing/2014/main" id="{0B251072-C3E9-4B10-9730-F1786F17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11480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pop-only / 496</a:t>
            </a:r>
          </a:p>
        </p:txBody>
      </p:sp>
      <p:sp>
        <p:nvSpPr>
          <p:cNvPr id="26" name="gqm-calibration-table-r1-c1">
            <a:extLst xmlns:a="http://schemas.openxmlformats.org/drawingml/2006/main">
              <a:ext uri="{FF2B5EF4-FFF2-40B4-BE49-F238E27FC236}">
                <a16:creationId xmlns:a16="http://schemas.microsoft.com/office/drawing/2014/main" id="{2F7C69C3-D8DF-41D6-9ABD-34BC72DD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114800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95.0 ns/op</a:t>
            </a:r>
          </a:p>
        </p:txBody>
      </p:sp>
      <p:sp>
        <p:nvSpPr>
          <p:cNvPr id="27" name="gqm-calibration-table-r1-c2">
            <a:extLst xmlns:a="http://schemas.openxmlformats.org/drawingml/2006/main">
              <a:ext uri="{FF2B5EF4-FFF2-40B4-BE49-F238E27FC236}">
                <a16:creationId xmlns:a16="http://schemas.microsoft.com/office/drawing/2014/main" id="{D8BBBB75-90E2-44DB-9DB7-8955BD6D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14800"/>
            <a:ext cx="102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1024.1 ns/op</a:t>
            </a:r>
          </a:p>
        </p:txBody>
      </p:sp>
      <p:sp>
        <p:nvSpPr>
          <p:cNvPr id="28" name="gqm-calibration-table-row-2">
            <a:extLst xmlns:a="http://schemas.openxmlformats.org/drawingml/2006/main">
              <a:ext uri="{FF2B5EF4-FFF2-40B4-BE49-F238E27FC236}">
                <a16:creationId xmlns:a16="http://schemas.microsoft.com/office/drawing/2014/main" id="{FCECFE08-064B-4F48-A2C1-50D6FCDD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gqm-calibration-table-r2-c0">
            <a:extLst xmlns:a="http://schemas.openxmlformats.org/drawingml/2006/main">
              <a:ext uri="{FF2B5EF4-FFF2-40B4-BE49-F238E27FC236}">
                <a16:creationId xmlns:a16="http://schemas.microsoft.com/office/drawing/2014/main" id="{FD185414-5A5E-43E0-AF90-C0640D4C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38150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push+pop / 2</a:t>
            </a:r>
          </a:p>
        </p:txBody>
      </p:sp>
      <p:sp>
        <p:nvSpPr>
          <p:cNvPr id="30" name="gqm-calibration-table-r2-c1">
            <a:extLst xmlns:a="http://schemas.openxmlformats.org/drawingml/2006/main">
              <a:ext uri="{FF2B5EF4-FFF2-40B4-BE49-F238E27FC236}">
                <a16:creationId xmlns:a16="http://schemas.microsoft.com/office/drawing/2014/main" id="{E0529B91-5691-4332-BCEE-05F30D7F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381500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83.2 ns/op</a:t>
            </a:r>
          </a:p>
        </p:txBody>
      </p:sp>
      <p:sp>
        <p:nvSpPr>
          <p:cNvPr id="31" name="gqm-calibration-table-r2-c2">
            <a:extLst xmlns:a="http://schemas.openxmlformats.org/drawingml/2006/main">
              <a:ext uri="{FF2B5EF4-FFF2-40B4-BE49-F238E27FC236}">
                <a16:creationId xmlns:a16="http://schemas.microsoft.com/office/drawing/2014/main" id="{200B2E05-44A4-4FD0-844C-025B573D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381500"/>
            <a:ext cx="102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997.7 ns/op</a:t>
            </a:r>
          </a:p>
        </p:txBody>
      </p:sp>
      <p:sp>
        <p:nvSpPr>
          <p:cNvPr id="32" name="gqm-calibration-table-row-3">
            <a:extLst xmlns:a="http://schemas.openxmlformats.org/drawingml/2006/main">
              <a:ext uri="{FF2B5EF4-FFF2-40B4-BE49-F238E27FC236}">
                <a16:creationId xmlns:a16="http://schemas.microsoft.com/office/drawing/2014/main" id="{77523236-0AAB-448D-B461-843C7ED0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00575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gqm-calibration-table-r3-c0">
            <a:extLst xmlns:a="http://schemas.openxmlformats.org/drawingml/2006/main">
              <a:ext uri="{FF2B5EF4-FFF2-40B4-BE49-F238E27FC236}">
                <a16:creationId xmlns:a16="http://schemas.microsoft.com/office/drawing/2014/main" id="{700994DD-3F6D-4FFE-9AB8-5EE57514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64820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fill+drain / 992</a:t>
            </a:r>
          </a:p>
        </p:txBody>
      </p:sp>
      <p:sp>
        <p:nvSpPr>
          <p:cNvPr id="34" name="gqm-calibration-table-r3-c1">
            <a:extLst xmlns:a="http://schemas.openxmlformats.org/drawingml/2006/main">
              <a:ext uri="{FF2B5EF4-FFF2-40B4-BE49-F238E27FC236}">
                <a16:creationId xmlns:a16="http://schemas.microsoft.com/office/drawing/2014/main" id="{78BF3D94-6B1A-495C-855E-D6E644CE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648200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89.5 ns/op</a:t>
            </a:r>
          </a:p>
        </p:txBody>
      </p:sp>
      <p:sp>
        <p:nvSpPr>
          <p:cNvPr id="35" name="gqm-calibration-table-r3-c2">
            <a:extLst xmlns:a="http://schemas.openxmlformats.org/drawingml/2006/main">
              <a:ext uri="{FF2B5EF4-FFF2-40B4-BE49-F238E27FC236}">
                <a16:creationId xmlns:a16="http://schemas.microsoft.com/office/drawing/2014/main" id="{12B28711-16C1-4C0D-BC70-3D47A815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648200"/>
            <a:ext cx="102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1021.8 ns/op</a:t>
            </a:r>
          </a:p>
        </p:txBody>
      </p:sp>
      <p:sp>
        <p:nvSpPr>
          <p:cNvPr id="36" name="gqm-calibration-result-bg">
            <a:extLst xmlns:a="http://schemas.openxmlformats.org/drawingml/2006/main">
              <a:ext uri="{FF2B5EF4-FFF2-40B4-BE49-F238E27FC236}">
                <a16:creationId xmlns:a16="http://schemas.microsoft.com/office/drawing/2014/main" id="{9562F545-149C-40D9-9B09-BE143112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37" name="gqm-calibration-result-text">
            <a:extLst xmlns:a="http://schemas.openxmlformats.org/drawingml/2006/main">
              <a:ext uri="{FF2B5EF4-FFF2-40B4-BE49-F238E27FC236}">
                <a16:creationId xmlns:a16="http://schemas.microsoft.com/office/drawing/2014/main" id="{22C52EA1-E7EB-4C73-8F83-6CCDCEAE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11125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 µs 配置约增加 1 µs / successful wrapper operation；effective exposure 是路径级敏感度指标，不是已测得的 operation count。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176DB1-B287-4006-9047-D8B4D714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实验边界：每点单次运行；缺少 client/server 与 push/pop 分方向 counter。</a:t>
            </a:r>
          </a:p>
        </p:txBody>
      </p:sp>
    </p:spTree>
    <p:extLst>
      <p:ext uri="{BB962C8B-B14F-4D97-AF65-F5344CB8AC3E}">
        <p14:creationId xmlns:p14="http://schemas.microsoft.com/office/powerpoint/2010/main" val="1087978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2026-07-22T06:39:47.3080000Z</dcterms:created>
  <dcterms:modified xsi:type="dcterms:W3CDTF">2026-07-22T06:39:47.3080000Z</dcterms:modified>
</coreProperties>
</file>