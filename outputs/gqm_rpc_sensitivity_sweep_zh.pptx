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31b73ab95408a" /><Relationship Type="http://schemas.openxmlformats.org/officeDocument/2006/relationships/extended-properties" Target="/docProps/app.xml" Id="R40a7b56176434590" /><Relationship Type="http://schemas.openxmlformats.org/officeDocument/2006/relationships/officeDocument" Target="/ppt/presentation.xml" Id="Rb6b21539ae0a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4b44c982841b4"/>
  </p:sldMasterIdLst>
  <p:notesMasterIdLst>
    <p:notesMasterId xmlns:r="http://schemas.openxmlformats.org/officeDocument/2006/relationships" r:id="R0afbd513e0d24b7e"/>
  </p:notesMasterIdLst>
  <p:sldIdLst>
    <p:sldId xmlns:r="http://schemas.openxmlformats.org/officeDocument/2006/relationships" id="256" r:id="R1e4dc4cda2fc4eb2"/>
    <p:sldId xmlns:r="http://schemas.openxmlformats.org/officeDocument/2006/relationships" id="257" r:id="R83dca688409145ac"/>
    <p:sldId xmlns:r="http://schemas.openxmlformats.org/officeDocument/2006/relationships" id="258" r:id="R061c5718429a498a"/>
    <p:sldId xmlns:r="http://schemas.openxmlformats.org/officeDocument/2006/relationships" id="259" r:id="R45be9c455a41408e"/>
    <p:sldId xmlns:r="http://schemas.openxmlformats.org/officeDocument/2006/relationships" id="260" r:id="Rb069325bb1414e3a"/>
    <p:sldId xmlns:r="http://schemas.openxmlformats.org/officeDocument/2006/relationships" id="261" r:id="Rfceda9d0f37642f9"/>
    <p:sldId xmlns:r="http://schemas.openxmlformats.org/officeDocument/2006/relationships" id="262" r:id="R9e43bcd567e64413"/>
    <p:sldId xmlns:r="http://schemas.openxmlformats.org/officeDocument/2006/relationships" id="263" r:id="R3a9847a78a764e96"/>
    <p:sldId xmlns:r="http://schemas.openxmlformats.org/officeDocument/2006/relationships" id="264" r:id="R68e7c5d48de14d47"/>
    <p:sldId xmlns:r="http://schemas.openxmlformats.org/officeDocument/2006/relationships" id="265" r:id="R6eb237f9236a4faa"/>
    <p:sldId xmlns:r="http://schemas.openxmlformats.org/officeDocument/2006/relationships" id="266" r:id="R5a23340d36414e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5e70a740cc4b51" /><Relationship Type="http://schemas.openxmlformats.org/officeDocument/2006/relationships/slideMaster" Target="/ppt/slideMasters/slideMaster1.xml" Id="R27f4b44c982841b4" /><Relationship Type="http://schemas.openxmlformats.org/officeDocument/2006/relationships/notesMaster" Target="/ppt/notesMasters/notesMaster1.xml" Id="R0afbd513e0d24b7e" /><Relationship Type="http://schemas.openxmlformats.org/officeDocument/2006/relationships/presProps" Target="/ppt/presProps.xml" Id="Rc9e87a9d10764e20" /><Relationship Type="http://schemas.openxmlformats.org/officeDocument/2006/relationships/tableStyles" Target="/ppt/tableStyles.xml" Id="R722674b5fffa4dfb" /><Relationship Type="http://schemas.openxmlformats.org/officeDocument/2006/relationships/slide" Target="/ppt/slides/slide1.xml" Id="R1e4dc4cda2fc4eb2" /><Relationship Type="http://schemas.openxmlformats.org/officeDocument/2006/relationships/slide" Target="/ppt/slides/slide2.xml" Id="R83dca688409145ac" /><Relationship Type="http://schemas.openxmlformats.org/officeDocument/2006/relationships/slide" Target="/ppt/slides/slide3.xml" Id="R061c5718429a498a" /><Relationship Type="http://schemas.openxmlformats.org/officeDocument/2006/relationships/slide" Target="/ppt/slides/slide4.xml" Id="R45be9c455a41408e" /><Relationship Type="http://schemas.openxmlformats.org/officeDocument/2006/relationships/slide" Target="/ppt/slides/slide5.xml" Id="Rb069325bb1414e3a" /><Relationship Type="http://schemas.openxmlformats.org/officeDocument/2006/relationships/slide" Target="/ppt/slides/slide6.xml" Id="Rfceda9d0f37642f9" /><Relationship Type="http://schemas.openxmlformats.org/officeDocument/2006/relationships/slide" Target="/ppt/slides/slide7.xml" Id="R9e43bcd567e64413" /><Relationship Type="http://schemas.openxmlformats.org/officeDocument/2006/relationships/slide" Target="/ppt/slides/slide8.xml" Id="R3a9847a78a764e96" /><Relationship Type="http://schemas.openxmlformats.org/officeDocument/2006/relationships/slide" Target="/ppt/slides/slide9.xml" Id="R68e7c5d48de14d47" /><Relationship Type="http://schemas.openxmlformats.org/officeDocument/2006/relationships/slide" Target="/ppt/slides/slide10.xml" Id="R6eb237f9236a4faa" /><Relationship Type="http://schemas.openxmlformats.org/officeDocument/2006/relationships/slide" Target="/ppt/slides/slide11.xml" Id="R5a23340d3641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9cc4c7fe2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0e030056d34f9b" /><Relationship Type="http://schemas.openxmlformats.org/officeDocument/2006/relationships/notesMaster" Target="/ppt/notesMasters/notesMaster1.xml" Id="R3ef524ca62d844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4ab273016a47eb" /><Relationship Type="http://schemas.openxmlformats.org/officeDocument/2006/relationships/notesMaster" Target="/ppt/notesMasters/notesMaster1.xml" Id="R5bb3185418c243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7d0a3ef0849f0" /><Relationship Type="http://schemas.openxmlformats.org/officeDocument/2006/relationships/notesMaster" Target="/ppt/notesMasters/notesMaster1.xml" Id="R251f9cd56990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867e757534c9d" /><Relationship Type="http://schemas.openxmlformats.org/officeDocument/2006/relationships/notesMaster" Target="/ppt/notesMasters/notesMaster1.xml" Id="R7536e232758f4d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0fad801ce4e42" /><Relationship Type="http://schemas.openxmlformats.org/officeDocument/2006/relationships/notesMaster" Target="/ppt/notesMasters/notesMaster1.xml" Id="R00e5e6fe7440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ffe4b3d9b4dcb" /><Relationship Type="http://schemas.openxmlformats.org/officeDocument/2006/relationships/notesMaster" Target="/ppt/notesMasters/notesMaster1.xml" Id="Rb912784ab13b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2c4377d10d465a" /><Relationship Type="http://schemas.openxmlformats.org/officeDocument/2006/relationships/notesMaster" Target="/ppt/notesMasters/notesMaster1.xml" Id="R70a408f81a0f40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fb8ecde7d485f" /><Relationship Type="http://schemas.openxmlformats.org/officeDocument/2006/relationships/notesMaster" Target="/ppt/notesMasters/notesMaster1.xml" Id="R66480bd2d84141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3b69833d214b71" /><Relationship Type="http://schemas.openxmlformats.org/officeDocument/2006/relationships/notesMaster" Target="/ppt/notesMasters/notesMaster1.xml" Id="R86f7ae2f12c1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a3788720074fa4" /><Relationship Type="http://schemas.openxmlformats.org/officeDocument/2006/relationships/notesMaster" Target="/ppt/notesMasters/notesMaster1.xml" Id="R2174995a06fd4d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5054cc74f445c3" /><Relationship Type="http://schemas.openxmlformats.org/officeDocument/2006/relationships/notesMaster" Target="/ppt/notesMasters/notesMaster1.xml" Id="R9baad567b75b4e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2fcce681a47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3b9e46d2f486a" /><Relationship Type="http://schemas.openxmlformats.org/officeDocument/2006/relationships/slideLayout" Target="/ppt/slideLayouts/slideLayout1.xml" Id="R2d661f0bdb284f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661f0bdb284f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d47e3c1564c2e" /><Relationship Type="http://schemas.openxmlformats.org/officeDocument/2006/relationships/notesSlide" Target="/ppt/notesSlides/notesSlide1.xml" Id="R4068172df4d6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82d0bd18d4612" /><Relationship Type="http://schemas.openxmlformats.org/officeDocument/2006/relationships/notesSlide" Target="/ppt/notesSlides/notesSlide2.xml" Id="Re78084d16871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a0308cef040d3" /><Relationship Type="http://schemas.openxmlformats.org/officeDocument/2006/relationships/notesSlide" Target="/ppt/notesSlides/notesSlide3.xml" Id="Rc293d6172ce2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91c25cdca4308" /><Relationship Type="http://schemas.openxmlformats.org/officeDocument/2006/relationships/image" Target="/ppt/media/image.png" Id="R164cf69c92c740bd" /><Relationship Type="http://schemas.openxmlformats.org/officeDocument/2006/relationships/notesSlide" Target="/ppt/notesSlides/notesSlide4.xml" Id="R830b6b1eff1549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55cb463864073" /><Relationship Type="http://schemas.openxmlformats.org/officeDocument/2006/relationships/image" Target="/ppt/media/image2.png" Id="R36c45ee7ffd045ce" /><Relationship Type="http://schemas.openxmlformats.org/officeDocument/2006/relationships/notesSlide" Target="/ppt/notesSlides/notesSlide5.xml" Id="Rd59acf4925634b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ca75515484f6c" /><Relationship Type="http://schemas.openxmlformats.org/officeDocument/2006/relationships/image" Target="/ppt/media/image3.png" Id="R3e8135d4d0a442d1" /><Relationship Type="http://schemas.openxmlformats.org/officeDocument/2006/relationships/notesSlide" Target="/ppt/notesSlides/notesSlide6.xml" Id="R94db79b18a5246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f8af3169a4175" /><Relationship Type="http://schemas.openxmlformats.org/officeDocument/2006/relationships/image" Target="/ppt/media/image4.png" Id="Ra4ab2727ada04946" /><Relationship Type="http://schemas.openxmlformats.org/officeDocument/2006/relationships/notesSlide" Target="/ppt/notesSlides/notesSlide7.xml" Id="Rf8f77b6d8f8d48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6104229424f1f" /><Relationship Type="http://schemas.openxmlformats.org/officeDocument/2006/relationships/image" Target="/ppt/media/image5.png" Id="R6f828f3ca3f14589" /><Relationship Type="http://schemas.openxmlformats.org/officeDocument/2006/relationships/notesSlide" Target="/ppt/notesSlides/notesSlide8.xml" Id="R90a9b6a2a5c044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760aa24e44b65" /><Relationship Type="http://schemas.openxmlformats.org/officeDocument/2006/relationships/image" Target="/ppt/media/image6.png" Id="R0a57a33d23994196" /><Relationship Type="http://schemas.openxmlformats.org/officeDocument/2006/relationships/notesSlide" Target="/ppt/notesSlides/notesSlide9.xml" Id="R66855e3c9e6c47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5bd64b0a4055" /><Relationship Type="http://schemas.openxmlformats.org/officeDocument/2006/relationships/image" Target="/ppt/media/image7.png" Id="R75f2c441752a457f" /><Relationship Type="http://schemas.openxmlformats.org/officeDocument/2006/relationships/notesSlide" Target="/ppt/notesSlides/notesSlide10.xml" Id="R70a1167c89bb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5820911c247c8" /><Relationship Type="http://schemas.openxmlformats.org/officeDocument/2006/relationships/notesSlide" Target="/ppt/notesSlides/notesSlide11.xml" Id="R2746fd3665bf4a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96E84F5-668B-4BA7-916D-61DE39B9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D9614F4-EF98-4990-A893-291CED4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62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RPC × HWQueue performance study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B543CF-1001-4E11-A503-FA7C37FC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0572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GQM / HWQueue
延迟敏感度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B84FAF-6B82-4462-97B8-8F73D81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525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从 primitive 校准，到 open-loop 排队悬崖与 fixed-outstanding 路径暴露量</a:t>
            </a:r>
          </a:p>
        </p:txBody>
      </p:sp>
      <p:sp>
        <p:nvSpPr>
          <p:cNvPr id="5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A3592F45-B733-4D07-B7D1-31CA504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E2F3FF0-13ED-4FE0-8570-80CE0FF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基于现有 sweep 报告与结论图 · 2026-07-22</a:t>
            </a:r>
          </a:p>
        </p:txBody>
      </p:sp>
    </p:spTree>
    <p:extLst>
      <p:ext uri="{BB962C8B-B14F-4D97-AF65-F5344CB8AC3E}">
        <p14:creationId xmlns:p14="http://schemas.microsoft.com/office/powerpoint/2010/main" val="2301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2">
            <a:extLst xmlns:a="http://schemas.openxmlformats.org/drawingml/2006/main">
              <a:ext uri="{FF2B5EF4-FFF2-40B4-BE49-F238E27FC236}">
                <a16:creationId xmlns:a16="http://schemas.microsoft.com/office/drawing/2014/main" id="{032C9604-7156-4090-97AB-F374A10B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97BFF8A-66AC-4485-8902-F40012AE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RPC 敏感度由路径暴露量决定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107136B-D094-41D9-97C8-00DC3B3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8AB1BB2C-44A3-472A-9CF2-FCAFC01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461120E6-50AA-4660-9640-A01DCA92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intro-2">
            <a:extLst xmlns:a="http://schemas.openxmlformats.org/drawingml/2006/main">
              <a:ext uri="{FF2B5EF4-FFF2-40B4-BE49-F238E27FC236}">
                <a16:creationId xmlns:a16="http://schemas.microsoft.com/office/drawing/2014/main" id="{464061A2-4B01-4F17-A24C-9B886F1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同一个同步 GQM delay knob，在不同 RPC 路径上产生完全不同的 request-cycle 放大。</a:t>
            </a:r>
          </a:p>
        </p:txBody>
      </p:sp>
      <p:sp>
        <p:nvSpPr>
          <p:cNvPr id="7" name="stat-panel-2-0">
            <a:extLst xmlns:a="http://schemas.openxmlformats.org/drawingml/2006/main">
              <a:ext uri="{FF2B5EF4-FFF2-40B4-BE49-F238E27FC236}">
                <a16:creationId xmlns:a16="http://schemas.microsoft.com/office/drawing/2014/main" id="{95F7AFB8-5E2D-4DC5-AC0F-2B11121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stat-2-0">
            <a:extLst xmlns:a="http://schemas.openxmlformats.org/drawingml/2006/main">
              <a:ext uri="{FF2B5EF4-FFF2-40B4-BE49-F238E27FC236}">
                <a16:creationId xmlns:a16="http://schemas.microsoft.com/office/drawing/2014/main" id="{26A153EA-D52D-47D3-B191-48EF165D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40x–100x</a:t>
            </a:r>
          </a:p>
        </p:txBody>
      </p:sp>
      <p:sp>
        <p:nvSpPr>
          <p:cNvPr id="9" name="stat-label-2-0">
            <a:extLst xmlns:a="http://schemas.openxmlformats.org/drawingml/2006/main">
              <a:ext uri="{FF2B5EF4-FFF2-40B4-BE49-F238E27FC236}">
                <a16:creationId xmlns:a16="http://schemas.microsoft.com/office/drawing/2014/main" id="{0D292D62-95C3-4528-B090-783EDC7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35K open-loop 的 latency cliff 区间；不是单指令硬件预算。</a:t>
            </a:r>
          </a:p>
        </p:txBody>
      </p:sp>
      <p:sp>
        <p:nvSpPr>
          <p:cNvPr id="10" name="stat-panel-2-1">
            <a:extLst xmlns:a="http://schemas.openxmlformats.org/drawingml/2006/main">
              <a:ext uri="{FF2B5EF4-FFF2-40B4-BE49-F238E27FC236}">
                <a16:creationId xmlns:a16="http://schemas.microsoft.com/office/drawing/2014/main" id="{45196501-7C05-4CAD-B5A9-C1D22EA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stat-2-1">
            <a:extLst xmlns:a="http://schemas.openxmlformats.org/drawingml/2006/main">
              <a:ext uri="{FF2B5EF4-FFF2-40B4-BE49-F238E27FC236}">
                <a16:creationId xmlns:a16="http://schemas.microsoft.com/office/drawing/2014/main" id="{841B8323-8974-4BF2-8024-8361C9C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1.98x</a:t>
            </a:r>
          </a:p>
        </p:txBody>
      </p:sp>
      <p:sp>
        <p:nvSpPr>
          <p:cNvPr id="12" name="stat-label-2-1">
            <a:extLst xmlns:a="http://schemas.openxmlformats.org/drawingml/2006/main">
              <a:ext uri="{FF2B5EF4-FFF2-40B4-BE49-F238E27FC236}">
                <a16:creationId xmlns:a16="http://schemas.microsoft.com/office/drawing/2014/main" id="{6DE015FA-311F-44E1-A35E-49516E94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cpp2 K=100 的 cycle / injected-delay 斜率，近似线性。</a:t>
            </a:r>
          </a:p>
        </p:txBody>
      </p:sp>
      <p:sp>
        <p:nvSpPr>
          <p:cNvPr id="13" name="stat-panel-2-2">
            <a:extLst xmlns:a="http://schemas.openxmlformats.org/drawingml/2006/main">
              <a:ext uri="{FF2B5EF4-FFF2-40B4-BE49-F238E27FC236}">
                <a16:creationId xmlns:a16="http://schemas.microsoft.com/office/drawing/2014/main" id="{156252F9-BB1A-4CF7-A2BF-8E0CAD0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stat-2-2">
            <a:extLst xmlns:a="http://schemas.openxmlformats.org/drawingml/2006/main">
              <a:ext uri="{FF2B5EF4-FFF2-40B4-BE49-F238E27FC236}">
                <a16:creationId xmlns:a16="http://schemas.microsoft.com/office/drawing/2014/main" id="{E9072114-F16A-4184-8580-AA203D72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195–308x</a:t>
            </a:r>
          </a:p>
        </p:txBody>
      </p:sp>
      <p:sp>
        <p:nvSpPr>
          <p:cNvPr id="15" name="stat-label-2-2">
            <a:extLst xmlns:a="http://schemas.openxmlformats.org/drawingml/2006/main">
              <a:ext uri="{FF2B5EF4-FFF2-40B4-BE49-F238E27FC236}">
                <a16:creationId xmlns:a16="http://schemas.microsoft.com/office/drawing/2014/main" id="{98B5269A-C13A-426E-A7E6-12233A09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VA FLAT 的 effective exposure；仍需 counter 判断调用密度与二级串行化。</a:t>
            </a:r>
          </a:p>
        </p:txBody>
      </p:sp>
      <p:sp>
        <p:nvSpPr>
          <p:cNvPr id="16" name="note-2">
            <a:extLst xmlns:a="http://schemas.openxmlformats.org/drawingml/2006/main">
              <a:ext uri="{FF2B5EF4-FFF2-40B4-BE49-F238E27FC236}">
                <a16:creationId xmlns:a16="http://schemas.microsoft.com/office/drawing/2014/main" id="{96B2BC71-3DC1-4F53-A791-51CB8F19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结论状态：low-to-medium confidence；每点单次运行，effective exposure 不能直接当作 operation count。</a:t>
            </a:r>
          </a:p>
        </p:txBody>
      </p:sp>
    </p:spTree>
    <p:extLst>
      <p:ext uri="{BB962C8B-B14F-4D97-AF65-F5344CB8AC3E}">
        <p14:creationId xmlns:p14="http://schemas.microsoft.com/office/powerpoint/2010/main" val="212373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3">
            <a:extLst xmlns:a="http://schemas.openxmlformats.org/drawingml/2006/main">
              <a:ext uri="{FF2B5EF4-FFF2-40B4-BE49-F238E27FC236}">
                <a16:creationId xmlns:a16="http://schemas.microsoft.com/office/drawing/2014/main" id="{45BB597E-4870-43A4-A833-59F7FA95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536F9DE-6285-4DAD-860C-21C8A6AB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三层实验把 knob、排队与路径暴露量分开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FCC1C6E-A7E1-4B3E-B72E-7A4E0E7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DFD00497-10AA-434E-9479-05F6A9CC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2FA68A4C-800D-4C61-A192-D4E19C3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timeline-3">
            <a:extLst xmlns:a="http://schemas.openxmlformats.org/drawingml/2006/main">
              <a:ext uri="{FF2B5EF4-FFF2-40B4-BE49-F238E27FC236}">
                <a16:creationId xmlns:a16="http://schemas.microsoft.com/office/drawing/2014/main" id="{010CA467-2DED-4D5F-AE80-4962B74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node-3-0">
            <a:extLst xmlns:a="http://schemas.openxmlformats.org/drawingml/2006/main">
              <a:ext uri="{FF2B5EF4-FFF2-40B4-BE49-F238E27FC236}">
                <a16:creationId xmlns:a16="http://schemas.microsoft.com/office/drawing/2014/main" id="{BB6AEB59-A715-4C79-A7E2-2416F1AC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stage-label-3-0">
            <a:extLst xmlns:a="http://schemas.openxmlformats.org/drawingml/2006/main">
              <a:ext uri="{FF2B5EF4-FFF2-40B4-BE49-F238E27FC236}">
                <a16:creationId xmlns:a16="http://schemas.microsoft.com/office/drawing/2014/main" id="{8F361D60-2190-46B6-890E-4980026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STEP 1</a:t>
            </a:r>
          </a:p>
        </p:txBody>
      </p:sp>
      <p:sp>
        <p:nvSpPr>
          <p:cNvPr id="9" name="stage-title-3-0">
            <a:extLst xmlns:a="http://schemas.openxmlformats.org/drawingml/2006/main">
              <a:ext uri="{FF2B5EF4-FFF2-40B4-BE49-F238E27FC236}">
                <a16:creationId xmlns:a16="http://schemas.microsoft.com/office/drawing/2014/main" id="{68B0985B-8771-434D-B3EF-F18ED09C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Primitive 校准</a:t>
            </a:r>
          </a:p>
        </p:txBody>
      </p:sp>
      <p:sp>
        <p:nvSpPr>
          <p:cNvPr id="10" name="stage-body-3-0">
            <a:extLst xmlns:a="http://schemas.openxmlformats.org/drawingml/2006/main">
              <a:ext uri="{FF2B5EF4-FFF2-40B4-BE49-F238E27FC236}">
                <a16:creationId xmlns:a16="http://schemas.microsoft.com/office/drawing/2014/main" id="{10FF79A6-AEC6-4AF9-B013-BCB8B2F2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3143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确认 1 µs 注入确实增加约 1 µs / successful wrapper op。</a:t>
            </a:r>
          </a:p>
        </p:txBody>
      </p:sp>
      <p:sp>
        <p:nvSpPr>
          <p:cNvPr id="11" name="node-3-1">
            <a:extLst xmlns:a="http://schemas.openxmlformats.org/drawingml/2006/main">
              <a:ext uri="{FF2B5EF4-FFF2-40B4-BE49-F238E27FC236}">
                <a16:creationId xmlns:a16="http://schemas.microsoft.com/office/drawing/2014/main" id="{96490036-8EC1-4576-8EA8-40877862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stage-label-3-1">
            <a:extLst xmlns:a="http://schemas.openxmlformats.org/drawingml/2006/main">
              <a:ext uri="{FF2B5EF4-FFF2-40B4-BE49-F238E27FC236}">
                <a16:creationId xmlns:a16="http://schemas.microsoft.com/office/drawing/2014/main" id="{3BBB06C3-96C7-41D4-B3BD-9D46585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STEP 2</a:t>
            </a:r>
          </a:p>
        </p:txBody>
      </p:sp>
      <p:sp>
        <p:nvSpPr>
          <p:cNvPr id="13" name="stage-title-3-1">
            <a:extLst xmlns:a="http://schemas.openxmlformats.org/drawingml/2006/main">
              <a:ext uri="{FF2B5EF4-FFF2-40B4-BE49-F238E27FC236}">
                <a16:creationId xmlns:a16="http://schemas.microsoft.com/office/drawing/2014/main" id="{C65247F4-559A-43E0-A169-DA004F81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Open-loop 压力</a:t>
            </a:r>
          </a:p>
        </p:txBody>
      </p:sp>
      <p:sp>
        <p:nvSpPr>
          <p:cNvPr id="14" name="stage-body-3-1">
            <a:extLst xmlns:a="http://schemas.openxmlformats.org/drawingml/2006/main">
              <a:ext uri="{FF2B5EF4-FFF2-40B4-BE49-F238E27FC236}">
                <a16:creationId xmlns:a16="http://schemas.microsoft.com/office/drawing/2014/main" id="{7392BB61-F403-409F-B971-8286691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8150"/>
            <a:ext cx="3143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固定 35K offered load，观察 latency cliff 与 capacity loss。</a:t>
            </a:r>
          </a:p>
        </p:txBody>
      </p:sp>
      <p:sp>
        <p:nvSpPr>
          <p:cNvPr id="15" name="node-3-2">
            <a:extLst xmlns:a="http://schemas.openxmlformats.org/drawingml/2006/main">
              <a:ext uri="{FF2B5EF4-FFF2-40B4-BE49-F238E27FC236}">
                <a16:creationId xmlns:a16="http://schemas.microsoft.com/office/drawing/2014/main" id="{74604899-5BCF-45F1-A263-8692D50A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stage-label-3-2">
            <a:extLst xmlns:a="http://schemas.openxmlformats.org/drawingml/2006/main">
              <a:ext uri="{FF2B5EF4-FFF2-40B4-BE49-F238E27FC236}">
                <a16:creationId xmlns:a16="http://schemas.microsoft.com/office/drawing/2014/main" id="{F80D0DAF-10CD-4246-AFE6-6D3F2659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STEP 3</a:t>
            </a:r>
          </a:p>
        </p:txBody>
      </p:sp>
      <p:sp>
        <p:nvSpPr>
          <p:cNvPr id="17" name="stage-title-3-2">
            <a:extLst xmlns:a="http://schemas.openxmlformats.org/drawingml/2006/main">
              <a:ext uri="{FF2B5EF4-FFF2-40B4-BE49-F238E27FC236}">
                <a16:creationId xmlns:a16="http://schemas.microsoft.com/office/drawing/2014/main" id="{B611597B-1812-44B4-B816-132CA575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Fixed outstanding</a:t>
            </a:r>
          </a:p>
        </p:txBody>
      </p:sp>
      <p:sp>
        <p:nvSpPr>
          <p:cNvPr id="18" name="stage-body-3-2">
            <a:extLst xmlns:a="http://schemas.openxmlformats.org/drawingml/2006/main">
              <a:ext uri="{FF2B5EF4-FFF2-40B4-BE49-F238E27FC236}">
                <a16:creationId xmlns:a16="http://schemas.microsoft.com/office/drawing/2014/main" id="{0FBC3DE9-C3BE-4EE7-B2C5-76211AE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143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固定 K=100，用 K/QPS cycle 比较 cpp2 与 VA FLAT 的暴露量。</a:t>
            </a:r>
          </a:p>
        </p:txBody>
      </p:sp>
    </p:spTree>
    <p:extLst>
      <p:ext uri="{BB962C8B-B14F-4D97-AF65-F5344CB8AC3E}">
        <p14:creationId xmlns:p14="http://schemas.microsoft.com/office/powerpoint/2010/main" val="1751104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4">
            <a:extLst xmlns:a="http://schemas.openxmlformats.org/drawingml/2006/main">
              <a:ext uri="{FF2B5EF4-FFF2-40B4-BE49-F238E27FC236}">
                <a16:creationId xmlns:a16="http://schemas.microsoft.com/office/drawing/2014/main" id="{69800F76-F86F-407F-88E8-A757E71F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7D4B041-0E75-4609-8B00-FD2714C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35K 是排队敏感锚点，不是空闲状态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E6F7BD9-F693-4BE1-8068-035AB5FE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54AAB458-E60B-4492-8E6B-6234D6EE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C37FC06-9C82-45A7-B785-F8A7FD6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figure-backdrop-4">
            <a:extLst xmlns:a="http://schemas.openxmlformats.org/drawingml/2006/main">
              <a:ext uri="{FF2B5EF4-FFF2-40B4-BE49-F238E27FC236}">
                <a16:creationId xmlns:a16="http://schemas.microsoft.com/office/drawing/2014/main" id="{F312479D-C15F-45FF-B939-8A42C95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4">
            <a:extLst xmlns:a="http://schemas.openxmlformats.org/drawingml/2006/main">
              <a:ext uri="{FF2B5EF4-FFF2-40B4-BE49-F238E27FC236}">
                <a16:creationId xmlns:a16="http://schemas.microsoft.com/office/drawing/2014/main" id="{093FB80B-2DED-448C-89C0-68D6E91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4">
            <a:extLst xmlns:a="http://schemas.openxmlformats.org/drawingml/2006/main">
              <a:ext uri="{FF2B5EF4-FFF2-40B4-BE49-F238E27FC236}">
                <a16:creationId xmlns:a16="http://schemas.microsoft.com/office/drawing/2014/main" id="{B8D6D151-DF8F-4588-B850-BF78A4AE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p99 1.274 ms</a:t>
            </a:r>
          </a:p>
        </p:txBody>
      </p:sp>
      <p:sp>
        <p:nvSpPr>
          <p:cNvPr id="9" name="takeaway-4">
            <a:extLst xmlns:a="http://schemas.openxmlformats.org/drawingml/2006/main">
              <a:ext uri="{FF2B5EF4-FFF2-40B4-BE49-F238E27FC236}">
                <a16:creationId xmlns:a16="http://schemas.microsoft.com/office/drawing/2014/main" id="{876EBAFA-27F1-4467-854A-E3BC0FD0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0-delay baseline 已处在高压力区。</a:t>
            </a:r>
          </a:p>
        </p:txBody>
      </p:sp>
      <p:sp>
        <p:nvSpPr>
          <p:cNvPr id="10" name="detail-4">
            <a:extLst xmlns:a="http://schemas.openxmlformats.org/drawingml/2006/main">
              <a:ext uri="{FF2B5EF4-FFF2-40B4-BE49-F238E27FC236}">
                <a16:creationId xmlns:a16="http://schemas.microsoft.com/office/drawing/2014/main" id="{42BF86BA-1FEA-4AAF-BCE6-B0DF55C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35K 前完成吞吐跟随 offered load；继续升压后 tail 与压力指标恶化。后续 delay sweep 观察的是“队列成本 × 排队放大”。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cf69c92c740bd"/>
          <a:stretch xmlns:a="http://schemas.openxmlformats.org/drawingml/2006/main"/>
        </p:blipFill>
        <p:spPr>
          <a:xfrm xmlns:a="http://schemas.openxmlformats.org/drawingml/2006/main">
            <a:off x="1741330" y="1352550"/>
            <a:ext cx="5127941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59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5">
            <a:extLst xmlns:a="http://schemas.openxmlformats.org/drawingml/2006/main">
              <a:ext uri="{FF2B5EF4-FFF2-40B4-BE49-F238E27FC236}">
                <a16:creationId xmlns:a16="http://schemas.microsoft.com/office/drawing/2014/main" id="{2F4E3B4A-14B7-4B61-923E-390610D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53E13D5-1EF7-4252-91A1-21383C97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Open-loop 的 latency cliff 位于 40x–100x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7EFBA48-CD3D-48F7-9894-3F2F243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2752223D-50C1-47BE-9BCD-9CBD086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0BEC3AA-32AF-4829-AEDE-3304FA5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figure-backdrop-5">
            <a:extLst xmlns:a="http://schemas.openxmlformats.org/drawingml/2006/main">
              <a:ext uri="{FF2B5EF4-FFF2-40B4-BE49-F238E27FC236}">
                <a16:creationId xmlns:a16="http://schemas.microsoft.com/office/drawing/2014/main" id="{16374B2C-02F7-4FFA-86B7-F78BC81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5">
            <a:extLst xmlns:a="http://schemas.openxmlformats.org/drawingml/2006/main">
              <a:ext uri="{FF2B5EF4-FFF2-40B4-BE49-F238E27FC236}">
                <a16:creationId xmlns:a16="http://schemas.microsoft.com/office/drawing/2014/main" id="{F38577B7-7424-4A22-A41F-513CF1A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5">
            <a:extLst xmlns:a="http://schemas.openxmlformats.org/drawingml/2006/main">
              <a:ext uri="{FF2B5EF4-FFF2-40B4-BE49-F238E27FC236}">
                <a16:creationId xmlns:a16="http://schemas.microsoft.com/office/drawing/2014/main" id="{75E8C648-88AD-4859-8028-30797C8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6.9× p99</a:t>
            </a:r>
          </a:p>
        </p:txBody>
      </p:sp>
      <p:sp>
        <p:nvSpPr>
          <p:cNvPr id="9" name="takeaway-5">
            <a:extLst xmlns:a="http://schemas.openxmlformats.org/drawingml/2006/main">
              <a:ext uri="{FF2B5EF4-FFF2-40B4-BE49-F238E27FC236}">
                <a16:creationId xmlns:a16="http://schemas.microsoft.com/office/drawing/2014/main" id="{B3D5737F-5698-45D8-8C7E-71FC757B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100x 点从 1.274 ms 跳到 8.784 ms。</a:t>
            </a:r>
          </a:p>
        </p:txBody>
      </p:sp>
      <p:sp>
        <p:nvSpPr>
          <p:cNvPr id="10" name="detail-5">
            <a:extLst xmlns:a="http://schemas.openxmlformats.org/drawingml/2006/main">
              <a:ext uri="{FF2B5EF4-FFF2-40B4-BE49-F238E27FC236}">
                <a16:creationId xmlns:a16="http://schemas.microsoft.com/office/drawing/2014/main" id="{70DC8774-1034-4D2B-8F2A-5E44D78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40x 吞吐仍保持，但 tail 已出现压力信号。p99.9 尖峰来自单次 run，仅作探索，不用于硬件预算。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45ee7ffd045ce"/>
          <a:stretch xmlns:a="http://schemas.openxmlformats.org/drawingml/2006/main"/>
        </p:blipFill>
        <p:spPr>
          <a:xfrm xmlns:a="http://schemas.openxmlformats.org/drawingml/2006/main">
            <a:off x="1009773" y="1352550"/>
            <a:ext cx="6591054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97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6">
            <a:extLst xmlns:a="http://schemas.openxmlformats.org/drawingml/2006/main">
              <a:ext uri="{FF2B5EF4-FFF2-40B4-BE49-F238E27FC236}">
                <a16:creationId xmlns:a16="http://schemas.microsoft.com/office/drawing/2014/main" id="{0B42FD1F-618F-416E-BDFA-F8F52961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30DA25A-5289-499F-AC64-25DDA16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到 200x 才出现明确 capacity loss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0905645-661B-453C-A53F-56F2EEE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73A8910E-E420-4C50-9D13-F3A9DA52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8C09AA33-C306-4AAA-A1C7-B3285EF9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figure-backdrop-6">
            <a:extLst xmlns:a="http://schemas.openxmlformats.org/drawingml/2006/main">
              <a:ext uri="{FF2B5EF4-FFF2-40B4-BE49-F238E27FC236}">
                <a16:creationId xmlns:a16="http://schemas.microsoft.com/office/drawing/2014/main" id="{2D106927-7915-43E6-81E3-80B1631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6">
            <a:extLst xmlns:a="http://schemas.openxmlformats.org/drawingml/2006/main">
              <a:ext uri="{FF2B5EF4-FFF2-40B4-BE49-F238E27FC236}">
                <a16:creationId xmlns:a16="http://schemas.microsoft.com/office/drawing/2014/main" id="{C0AC5534-F670-4693-B53A-F6A0667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6">
            <a:extLst xmlns:a="http://schemas.openxmlformats.org/drawingml/2006/main">
              <a:ext uri="{FF2B5EF4-FFF2-40B4-BE49-F238E27FC236}">
                <a16:creationId xmlns:a16="http://schemas.microsoft.com/office/drawing/2014/main" id="{17DCD84B-D426-4E8C-A9C4-E420A16A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30.60K QPS</a:t>
            </a:r>
          </a:p>
        </p:txBody>
      </p:sp>
      <p:sp>
        <p:nvSpPr>
          <p:cNvPr id="9" name="takeaway-6">
            <a:extLst xmlns:a="http://schemas.openxmlformats.org/drawingml/2006/main">
              <a:ext uri="{FF2B5EF4-FFF2-40B4-BE49-F238E27FC236}">
                <a16:creationId xmlns:a16="http://schemas.microsoft.com/office/drawing/2014/main" id="{ADBA195D-A434-4DDE-8DF3-B09A47D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200x 时 capacity 明确下降。</a:t>
            </a:r>
          </a:p>
        </p:txBody>
      </p:sp>
      <p:sp>
        <p:nvSpPr>
          <p:cNvPr id="10" name="detail-6">
            <a:extLst xmlns:a="http://schemas.openxmlformats.org/drawingml/2006/main">
              <a:ext uri="{FF2B5EF4-FFF2-40B4-BE49-F238E27FC236}">
                <a16:creationId xmlns:a16="http://schemas.microsoft.com/office/drawing/2014/main" id="{1E9DC259-6D19-4413-92A8-404A27E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完成吞吐降至 30.60K QPS，client shed 12.74%。latency 先于吞吐成为敏感指标；不能把“100x 前 QPS 不降”解读为 RPC 不受影响。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135d4d0a442d1"/>
          <a:stretch xmlns:a="http://schemas.openxmlformats.org/drawingml/2006/main"/>
        </p:blipFill>
        <p:spPr>
          <a:xfrm xmlns:a="http://schemas.openxmlformats.org/drawingml/2006/main">
            <a:off x="1498670" y="1352550"/>
            <a:ext cx="5613260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9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7">
            <a:extLst xmlns:a="http://schemas.openxmlformats.org/drawingml/2006/main">
              <a:ext uri="{FF2B5EF4-FFF2-40B4-BE49-F238E27FC236}">
                <a16:creationId xmlns:a16="http://schemas.microsoft.com/office/drawing/2014/main" id="{D793EB4B-D737-4D9F-835B-7243FB5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6ED1D93-BEB7-4921-B0D8-16907586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 µs 注入 ≈ 1 µs / successful wrapper op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73D5248-6D92-471C-B1AB-6348BFE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092B85B3-1138-44F6-B331-A5220400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F6459EFA-84A8-4E1F-8DAD-F883BDD5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takeaway-7">
            <a:extLst xmlns:a="http://schemas.openxmlformats.org/drawingml/2006/main">
              <a:ext uri="{FF2B5EF4-FFF2-40B4-BE49-F238E27FC236}">
                <a16:creationId xmlns:a16="http://schemas.microsoft.com/office/drawing/2014/main" id="{32DBD92E-8ED4-4D0C-B79F-EB680BD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push-only、pop-only 与 push+pop 的增量接近 1 µs/op；raw、empty 与 software controls 基本平坦。</a:t>
            </a:r>
          </a:p>
        </p:txBody>
      </p:sp>
      <p:sp>
        <p:nvSpPr>
          <p:cNvPr id="7" name="figure-backdrop-7">
            <a:extLst xmlns:a="http://schemas.openxmlformats.org/drawingml/2006/main">
              <a:ext uri="{FF2B5EF4-FFF2-40B4-BE49-F238E27FC236}">
                <a16:creationId xmlns:a16="http://schemas.microsoft.com/office/drawing/2014/main" id="{13A5A825-64CD-408F-B9D7-ECD0AB4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b2727ada04946"/>
          <a:stretch xmlns:a="http://schemas.openxmlformats.org/drawingml/2006/main"/>
        </p:blipFill>
        <p:spPr>
          <a:xfrm xmlns:a="http://schemas.openxmlformats.org/drawingml/2006/main">
            <a:off x="1117308" y="1733550"/>
            <a:ext cx="9957385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53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8">
            <a:extLst xmlns:a="http://schemas.openxmlformats.org/drawingml/2006/main">
              <a:ext uri="{FF2B5EF4-FFF2-40B4-BE49-F238E27FC236}">
                <a16:creationId xmlns:a16="http://schemas.microsoft.com/office/drawing/2014/main" id="{CFA97FF7-2741-479D-A8EC-C9E42CC1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3135960-804A-4170-8FAE-FBE1601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cpp2 的 request cycle 近似线性增加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097E3107-5B91-42DE-95AA-C0605B1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4F3EDACA-6159-4F40-8A36-0EE6D7F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57064A47-8A85-44C9-9EAB-DCF853E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figure-backdrop-8">
            <a:extLst xmlns:a="http://schemas.openxmlformats.org/drawingml/2006/main">
              <a:ext uri="{FF2B5EF4-FFF2-40B4-BE49-F238E27FC236}">
                <a16:creationId xmlns:a16="http://schemas.microsoft.com/office/drawing/2014/main" id="{201EDB73-96BA-4BA3-9595-9B5A0555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8">
            <a:extLst xmlns:a="http://schemas.openxmlformats.org/drawingml/2006/main">
              <a:ext uri="{FF2B5EF4-FFF2-40B4-BE49-F238E27FC236}">
                <a16:creationId xmlns:a16="http://schemas.microsoft.com/office/drawing/2014/main" id="{D354872B-B1FB-4FB6-85A7-4ABE285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8">
            <a:extLst xmlns:a="http://schemas.openxmlformats.org/drawingml/2006/main">
              <a:ext uri="{FF2B5EF4-FFF2-40B4-BE49-F238E27FC236}">
                <a16:creationId xmlns:a16="http://schemas.microsoft.com/office/drawing/2014/main" id="{FACDC445-0CD5-438A-9B21-BBBB26D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R² = 0.9988</a:t>
            </a:r>
          </a:p>
        </p:txBody>
      </p:sp>
      <p:sp>
        <p:nvSpPr>
          <p:cNvPr id="9" name="takeaway-8">
            <a:extLst xmlns:a="http://schemas.openxmlformats.org/drawingml/2006/main">
              <a:ext uri="{FF2B5EF4-FFF2-40B4-BE49-F238E27FC236}">
                <a16:creationId xmlns:a16="http://schemas.microsoft.com/office/drawing/2014/main" id="{69111C16-DD8D-45ED-8C48-FB6FD67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cycle = 470.22 + 1.980 × delay_us。</a:t>
            </a:r>
          </a:p>
        </p:txBody>
      </p:sp>
      <p:sp>
        <p:nvSpPr>
          <p:cNvPr id="10" name="detail-8">
            <a:extLst xmlns:a="http://schemas.openxmlformats.org/drawingml/2006/main">
              <a:ext uri="{FF2B5EF4-FFF2-40B4-BE49-F238E27FC236}">
                <a16:creationId xmlns:a16="http://schemas.microsoft.com/office/drawing/2014/main" id="{1ED66F25-6C88-4916-BD1D-0EC959A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40x：QPS 94.21%，p99 +6.26%；200x：QPS 78.13%。cpp2 是低暴露 control，不代表所有路径的安全上限。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28f3ca3f14589"/>
          <a:stretch xmlns:a="http://schemas.openxmlformats.org/drawingml/2006/main"/>
        </p:blipFill>
        <p:spPr>
          <a:xfrm xmlns:a="http://schemas.openxmlformats.org/drawingml/2006/main">
            <a:off x="1009773" y="1352550"/>
            <a:ext cx="6591054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5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9">
            <a:extLst xmlns:a="http://schemas.openxmlformats.org/drawingml/2006/main">
              <a:ext uri="{FF2B5EF4-FFF2-40B4-BE49-F238E27FC236}">
                <a16:creationId xmlns:a16="http://schemas.microsoft.com/office/drawing/2014/main" id="{9809D385-626A-4E35-B58E-F2FC6D9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1BBFD54-18EA-4572-A595-FAA3D5A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VA FLAT 从 1x 起就持续退化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76896380-9544-4AF7-8C79-A9B5A58D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9">
            <a:extLst xmlns:a="http://schemas.openxmlformats.org/drawingml/2006/main">
              <a:ext uri="{FF2B5EF4-FFF2-40B4-BE49-F238E27FC236}">
                <a16:creationId xmlns:a16="http://schemas.microsoft.com/office/drawing/2014/main" id="{5D987062-22B6-4833-AB7E-E92B2C6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816ED4C6-C454-4800-AC8D-1F9EDDFB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figure-backdrop-9">
            <a:extLst xmlns:a="http://schemas.openxmlformats.org/drawingml/2006/main">
              <a:ext uri="{FF2B5EF4-FFF2-40B4-BE49-F238E27FC236}">
                <a16:creationId xmlns:a16="http://schemas.microsoft.com/office/drawing/2014/main" id="{38D79713-E809-4B1A-AFCB-3E89CB5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9">
            <a:extLst xmlns:a="http://schemas.openxmlformats.org/drawingml/2006/main">
              <a:ext uri="{FF2B5EF4-FFF2-40B4-BE49-F238E27FC236}">
                <a16:creationId xmlns:a16="http://schemas.microsoft.com/office/drawing/2014/main" id="{DB51D5A1-18F5-4197-B996-881205D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9">
            <a:extLst xmlns:a="http://schemas.openxmlformats.org/drawingml/2006/main">
              <a:ext uri="{FF2B5EF4-FFF2-40B4-BE49-F238E27FC236}">
                <a16:creationId xmlns:a16="http://schemas.microsoft.com/office/drawing/2014/main" id="{8C0DE57C-AA9A-4804-8430-8D1E630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38.77% QPS</a:t>
            </a:r>
          </a:p>
        </p:txBody>
      </p:sp>
      <p:sp>
        <p:nvSpPr>
          <p:cNvPr id="9" name="takeaway-9">
            <a:extLst xmlns:a="http://schemas.openxmlformats.org/drawingml/2006/main">
              <a:ext uri="{FF2B5EF4-FFF2-40B4-BE49-F238E27FC236}">
                <a16:creationId xmlns:a16="http://schemas.microsoft.com/office/drawing/2014/main" id="{44A80048-9D8A-42E0-B94B-7C8CD38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40x 时 p99 已达到 baseline 的 2.611×。</a:t>
            </a:r>
          </a:p>
        </p:txBody>
      </p:sp>
      <p:sp>
        <p:nvSpPr>
          <p:cNvPr id="10" name="detail-9">
            <a:extLst xmlns:a="http://schemas.openxmlformats.org/drawingml/2006/main">
              <a:ext uri="{FF2B5EF4-FFF2-40B4-BE49-F238E27FC236}">
                <a16:creationId xmlns:a16="http://schemas.microsoft.com/office/drawing/2014/main" id="{2F8B6EE0-C953-4B65-85FB-2C61D09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effective exposure：低中 delay 195–240x，高 delay 约 308x。来源可能是更多 successful operations，也可能是扫描、批处理或二级串行化。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7a33d23994196"/>
          <a:stretch xmlns:a="http://schemas.openxmlformats.org/drawingml/2006/main"/>
        </p:blipFill>
        <p:spPr>
          <a:xfrm xmlns:a="http://schemas.openxmlformats.org/drawingml/2006/main">
            <a:off x="1630919" y="1352550"/>
            <a:ext cx="5348761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36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10">
            <a:extLst xmlns:a="http://schemas.openxmlformats.org/drawingml/2006/main">
              <a:ext uri="{FF2B5EF4-FFF2-40B4-BE49-F238E27FC236}">
                <a16:creationId xmlns:a16="http://schemas.microsoft.com/office/drawing/2014/main" id="{3A9CFBFB-9C74-436F-A1A7-67DDF6D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0F109F1-4B0C-4401-8CE0-4039B47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路径差异远大于 primitive 的纳秒差异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29CAA23E-0D18-4B38-95C9-CE17226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4CC30786-8EAE-4493-BE8D-6D018F06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FCC26201-B321-4760-AD55-CDAE2E2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takeaway-10">
            <a:extLst xmlns:a="http://schemas.openxmlformats.org/drawingml/2006/main">
              <a:ext uri="{FF2B5EF4-FFF2-40B4-BE49-F238E27FC236}">
                <a16:creationId xmlns:a16="http://schemas.microsoft.com/office/drawing/2014/main" id="{9138DD7A-47E6-4276-906E-9D5FF7F2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同为 K=100，cpp2 暴露约 2x；VA FLAT 暴露约 200–300x。硬件协同优化应优先定位路径调用密度。</a:t>
            </a:r>
          </a:p>
        </p:txBody>
      </p:sp>
      <p:sp>
        <p:nvSpPr>
          <p:cNvPr id="7" name="figure-backdrop-10">
            <a:extLst xmlns:a="http://schemas.openxmlformats.org/drawingml/2006/main">
              <a:ext uri="{FF2B5EF4-FFF2-40B4-BE49-F238E27FC236}">
                <a16:creationId xmlns:a16="http://schemas.microsoft.com/office/drawing/2014/main" id="{78756357-38D7-4243-96A1-99A36273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2c441752a457f"/>
          <a:stretch xmlns:a="http://schemas.openxmlformats.org/drawingml/2006/main"/>
        </p:blipFill>
        <p:spPr>
          <a:xfrm xmlns:a="http://schemas.openxmlformats.org/drawingml/2006/main">
            <a:off x="1200132" y="1733550"/>
            <a:ext cx="9791735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85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11">
            <a:extLst xmlns:a="http://schemas.openxmlformats.org/drawingml/2006/main">
              <a:ext uri="{FF2B5EF4-FFF2-40B4-BE49-F238E27FC236}">
                <a16:creationId xmlns:a16="http://schemas.microsoft.com/office/drawing/2014/main" id="{9E38F449-4527-41BB-BBE0-0D7B880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07A57A4-33EB-418C-884D-C80C3801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先拆解暴露量，再决定硬件优化优先级</a:t>
            </a:r>
          </a:p>
        </p:txBody>
      </p:sp>
      <p:sp>
        <p:nvSpPr>
          <p:cNvPr id="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CCE220A7-4290-4DCD-BAA8-8F90384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1">
            <a:extLst xmlns:a="http://schemas.openxmlformats.org/drawingml/2006/main">
              <a:ext uri="{FF2B5EF4-FFF2-40B4-BE49-F238E27FC236}">
                <a16:creationId xmlns:a16="http://schemas.microsoft.com/office/drawing/2014/main" id="{B9AEB803-99C0-4871-A495-97CE9AD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gqm_injected_delay_sweep/README.md · EDR-0002 / EDR-0003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870F233F-2EEF-455D-8C68-BA429AA7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decision-intro-11">
            <a:extLst xmlns:a="http://schemas.openxmlformats.org/drawingml/2006/main">
              <a:ext uri="{FF2B5EF4-FFF2-40B4-BE49-F238E27FC236}">
                <a16:creationId xmlns:a16="http://schemas.microsoft.com/office/drawing/2014/main" id="{AE50BA20-2309-467F-B681-BBF22DA0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目标不是继续证明 HWQueue“能不能用”，而是把 RPC 中最昂贵的同步暴露点定位到端点、方向和操作类型。</a:t>
            </a:r>
          </a:p>
        </p:txBody>
      </p:sp>
      <p:sp>
        <p:nvSpPr>
          <p:cNvPr id="7" name="decision-rule-11-0">
            <a:extLst xmlns:a="http://schemas.openxmlformats.org/drawingml/2006/main">
              <a:ext uri="{FF2B5EF4-FFF2-40B4-BE49-F238E27FC236}">
                <a16:creationId xmlns:a16="http://schemas.microsoft.com/office/drawing/2014/main" id="{38A7FF36-801A-474E-880E-7DC91DA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decision-title-11-0">
            <a:extLst xmlns:a="http://schemas.openxmlformats.org/drawingml/2006/main">
              <a:ext uri="{FF2B5EF4-FFF2-40B4-BE49-F238E27FC236}">
                <a16:creationId xmlns:a16="http://schemas.microsoft.com/office/drawing/2014/main" id="{111BAD65-ED25-4FF2-9D69-E6BE9D7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先加 counter</a:t>
            </a:r>
          </a:p>
        </p:txBody>
      </p:sp>
      <p:sp>
        <p:nvSpPr>
          <p:cNvPr id="9" name="decision-body-11-0">
            <a:extLst xmlns:a="http://schemas.openxmlformats.org/drawingml/2006/main">
              <a:ext uri="{FF2B5EF4-FFF2-40B4-BE49-F238E27FC236}">
                <a16:creationId xmlns:a16="http://schemas.microsoft.com/office/drawing/2014/main" id="{DA7E6A0F-98E8-4850-A0A7-1EF4EACD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按 client / server 分开记录 successful / empty push / pop，以及 notification / ACK；归一化为 operations / RPC。</a:t>
            </a:r>
          </a:p>
        </p:txBody>
      </p:sp>
      <p:sp>
        <p:nvSpPr>
          <p:cNvPr id="10" name="decision-rule-11-1">
            <a:extLst xmlns:a="http://schemas.openxmlformats.org/drawingml/2006/main">
              <a:ext uri="{FF2B5EF4-FFF2-40B4-BE49-F238E27FC236}">
                <a16:creationId xmlns:a16="http://schemas.microsoft.com/office/drawing/2014/main" id="{BEBB6F72-E88B-45B3-8805-D9FD84A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decision-title-11-1">
            <a:extLst xmlns:a="http://schemas.openxmlformats.org/drawingml/2006/main">
              <a:ext uri="{FF2B5EF4-FFF2-40B4-BE49-F238E27FC236}">
                <a16:creationId xmlns:a16="http://schemas.microsoft.com/office/drawing/2014/main" id="{3C35D8F7-83E1-407D-84E6-84489C6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再做隔离注入</a:t>
            </a:r>
          </a:p>
        </p:txBody>
      </p:sp>
      <p:sp>
        <p:nvSpPr>
          <p:cNvPr id="12" name="decision-body-11-1">
            <a:extLst xmlns:a="http://schemas.openxmlformats.org/drawingml/2006/main">
              <a:ext uri="{FF2B5EF4-FFF2-40B4-BE49-F238E27FC236}">
                <a16:creationId xmlns:a16="http://schemas.microsoft.com/office/drawing/2014/main" id="{F8AD10E1-9E05-4C52-80BB-2F11341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分别调慢 push、pop 和两个端点；在 13.4–33.5 µs 区间加密 open-loop sweep，识别 cliff 的主贡献者。</a:t>
            </a:r>
          </a:p>
        </p:txBody>
      </p:sp>
      <p:sp>
        <p:nvSpPr>
          <p:cNvPr id="13" name="decision-rule-11-2">
            <a:extLst xmlns:a="http://schemas.openxmlformats.org/drawingml/2006/main">
              <a:ext uri="{FF2B5EF4-FFF2-40B4-BE49-F238E27FC236}">
                <a16:creationId xmlns:a16="http://schemas.microsoft.com/office/drawing/2014/main" id="{355C27CA-4E81-4E9B-B1E2-A2FFFDD3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decision-title-11-2">
            <a:extLst xmlns:a="http://schemas.openxmlformats.org/drawingml/2006/main">
              <a:ext uri="{FF2B5EF4-FFF2-40B4-BE49-F238E27FC236}">
                <a16:creationId xmlns:a16="http://schemas.microsoft.com/office/drawing/2014/main" id="{681FF232-AB3B-4A5A-8B32-BFDDA1E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最后验证结构</a:t>
            </a:r>
          </a:p>
        </p:txBody>
      </p:sp>
      <p:sp>
        <p:nvSpPr>
          <p:cNvPr id="15" name="decision-body-11-2">
            <a:extLst xmlns:a="http://schemas.openxmlformats.org/drawingml/2006/main">
              <a:ext uri="{FF2B5EF4-FFF2-40B4-BE49-F238E27FC236}">
                <a16:creationId xmlns:a16="http://schemas.microsoft.com/office/drawing/2014/main" id="{94A648BE-F7D6-427C-B8C0-2737547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扫 K={1,8,32,100} 并重复 ≥3 次；判断高 exposure 是固有调用密度，还是扫描、批处理与二级串行化。</a:t>
            </a:r>
          </a:p>
        </p:txBody>
      </p:sp>
      <p:sp>
        <p:nvSpPr>
          <p:cNvPr id="16" name="decision-conclusion-bg-11">
            <a:extLst xmlns:a="http://schemas.openxmlformats.org/drawingml/2006/main">
              <a:ext uri="{FF2B5EF4-FFF2-40B4-BE49-F238E27FC236}">
                <a16:creationId xmlns:a16="http://schemas.microsoft.com/office/drawing/2014/main" id="{B6DADBD3-74DA-4FE8-A6A9-B6B2883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7" name="decision-conclusion-11">
            <a:extLst xmlns:a="http://schemas.openxmlformats.org/drawingml/2006/main">
              <a:ext uri="{FF2B5EF4-FFF2-40B4-BE49-F238E27FC236}">
                <a16:creationId xmlns:a16="http://schemas.microsoft.com/office/drawing/2014/main" id="{ADDA07A6-8B30-47B7-AF54-C3D9562D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9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cpp2 保留为约 2x 的 control；VA FLAT 作为 high-exposure 优先优化目标。</a:t>
            </a:r>
          </a:p>
        </p:txBody>
      </p:sp>
    </p:spTree>
    <p:extLst>
      <p:ext uri="{BB962C8B-B14F-4D97-AF65-F5344CB8AC3E}">
        <p14:creationId xmlns:p14="http://schemas.microsoft.com/office/powerpoint/2010/main" val="1687309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2026-07-22T06:05:46.0830000Z</dcterms:created>
  <dcterms:modified xsi:type="dcterms:W3CDTF">2026-07-22T06:05:46.0830000Z</dcterms:modified>
</coreProperties>
</file>