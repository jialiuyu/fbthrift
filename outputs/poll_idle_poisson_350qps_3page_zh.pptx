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f440d20b546d1" /><Relationship Type="http://schemas.openxmlformats.org/officeDocument/2006/relationships/extended-properties" Target="/docProps/app.xml" Id="R5aa9b6dc12fd4603" /><Relationship Type="http://schemas.openxmlformats.org/officeDocument/2006/relationships/officeDocument" Target="/ppt/presentation.xml" Id="R5b1a08a0a81d42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cc02c034f24266"/>
  </p:sldMasterIdLst>
  <p:notesMasterIdLst>
    <p:notesMasterId xmlns:r="http://schemas.openxmlformats.org/officeDocument/2006/relationships" r:id="R0a51b9995ffb47da"/>
  </p:notesMasterIdLst>
  <p:sldIdLst>
    <p:sldId xmlns:r="http://schemas.openxmlformats.org/officeDocument/2006/relationships" id="256" r:id="Rfcc6aca3234d48d7"/>
    <p:sldId xmlns:r="http://schemas.openxmlformats.org/officeDocument/2006/relationships" id="257" r:id="R5830e186edf84660"/>
    <p:sldId xmlns:r="http://schemas.openxmlformats.org/officeDocument/2006/relationships" id="258" r:id="Reafc69ca352444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1495471e0b4c10" /><Relationship Type="http://schemas.openxmlformats.org/officeDocument/2006/relationships/slideMaster" Target="/ppt/slideMasters/slideMaster1.xml" Id="R7dcc02c034f24266" /><Relationship Type="http://schemas.openxmlformats.org/officeDocument/2006/relationships/notesMaster" Target="/ppt/notesMasters/notesMaster1.xml" Id="R0a51b9995ffb47da" /><Relationship Type="http://schemas.openxmlformats.org/officeDocument/2006/relationships/presProps" Target="/ppt/presProps.xml" Id="Re8a69aeca9084110" /><Relationship Type="http://schemas.openxmlformats.org/officeDocument/2006/relationships/tableStyles" Target="/ppt/tableStyles.xml" Id="R9447c97eef1c4055" /><Relationship Type="http://schemas.openxmlformats.org/officeDocument/2006/relationships/slide" Target="/ppt/slides/slide1.xml" Id="Rfcc6aca3234d48d7" /><Relationship Type="http://schemas.openxmlformats.org/officeDocument/2006/relationships/slide" Target="/ppt/slides/slide2.xml" Id="R5830e186edf84660" /><Relationship Type="http://schemas.openxmlformats.org/officeDocument/2006/relationships/slide" Target="/ppt/slides/slide3.xml" Id="Reafc69ca3524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83ecdd8f2a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fa59f3a1a2466f" /><Relationship Type="http://schemas.openxmlformats.org/officeDocument/2006/relationships/notesMaster" Target="/ppt/notesMasters/notesMaster1.xml" Id="R93eddfb8b1dd49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d92ee9cde54177" /><Relationship Type="http://schemas.openxmlformats.org/officeDocument/2006/relationships/notesMaster" Target="/ppt/notesMasters/notesMaster1.xml" Id="R16290b25509c47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3369e9ea624178" /><Relationship Type="http://schemas.openxmlformats.org/officeDocument/2006/relationships/notesMaster" Target="/ppt/notesMasters/notesMaster1.xml" Id="R61c9ff9b087242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29900711f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df9b331e804c20" /><Relationship Type="http://schemas.openxmlformats.org/officeDocument/2006/relationships/slideLayout" Target="/ppt/slideLayouts/slideLayout1.xml" Id="R8b3f7c6359b048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3f7c6359b048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e922e960d440f" /><Relationship Type="http://schemas.openxmlformats.org/officeDocument/2006/relationships/image" Target="/ppt/media/image.png" Id="R4b0e100f64eb489d" /><Relationship Type="http://schemas.openxmlformats.org/officeDocument/2006/relationships/notesSlide" Target="/ppt/notesSlides/notesSlide1.xml" Id="R20145e0ea6c744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1e339a7ea49ea" /><Relationship Type="http://schemas.openxmlformats.org/officeDocument/2006/relationships/image" Target="/ppt/media/image2.png" Id="R57f11103c53b4599" /><Relationship Type="http://schemas.openxmlformats.org/officeDocument/2006/relationships/notesSlide" Target="/ppt/notesSlides/notesSlide2.xml" Id="R8443b25df0c646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9d3de6f354504" /><Relationship Type="http://schemas.openxmlformats.org/officeDocument/2006/relationships/image" Target="/ppt/media/image3.png" Id="Rab117f9a3d9f4702" /><Relationship Type="http://schemas.openxmlformats.org/officeDocument/2006/relationships/image" Target="/ppt/media/image4.png" Id="R48a3e2d680374a2f" /><Relationship Type="http://schemas.openxmlformats.org/officeDocument/2006/relationships/notesSlide" Target="/ppt/notesSlides/notesSlide3.xml" Id="R6e19715e58bb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accent-1">
            <a:extLst xmlns:a="http://schemas.openxmlformats.org/drawingml/2006/main">
              <a:ext uri="{FF2B5EF4-FFF2-40B4-BE49-F238E27FC236}">
                <a16:creationId xmlns:a16="http://schemas.microsoft.com/office/drawing/2014/main" id="{2351E094-A2C9-4A51-856A-C923CF73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67A3296B-1177-4939-B305-A8969390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1391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Poll-idle Poisson 350 QPS：CPU–p99 Pareto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EF4BD58E-56AB-4F93-B47D-0C6C70B0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">
            <a:extLst xmlns:a="http://schemas.openxmlformats.org/drawingml/2006/main">
              <a:ext uri="{FF2B5EF4-FFF2-40B4-BE49-F238E27FC236}">
                <a16:creationId xmlns:a16="http://schemas.microsoft.com/office/drawing/2014/main" id="{2197D281-8646-4B4E-81B6-3DAF043C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5285 requests</a:t>
            </a:r>
          </a:p>
        </p:txBody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56CA85BE-CE3C-4077-98EA-0217BBB3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6" name="poll-pareto-conditions-bg">
            <a:extLst xmlns:a="http://schemas.openxmlformats.org/drawingml/2006/main">
              <a:ext uri="{FF2B5EF4-FFF2-40B4-BE49-F238E27FC236}">
                <a16:creationId xmlns:a16="http://schemas.microsoft.com/office/drawing/2014/main" id="{9B30B692-7D01-44D9-BEEF-AA6383B1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19175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poll-pareto-conditions-text">
            <a:extLst xmlns:a="http://schemas.openxmlformats.org/drawingml/2006/main">
              <a:ext uri="{FF2B5EF4-FFF2-40B4-BE49-F238E27FC236}">
                <a16:creationId xmlns:a16="http://schemas.microsoft.com/office/drawing/2014/main" id="{58C775F5-33F2-4AA9-A071-79E006D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Poisson 350 QPS · 64 B echo · 15 s · 5285 requests · BUD={0,16,128,1024} · SLEEP={1,10,100,1000,10000} µs</a:t>
            </a:r>
          </a:p>
        </p:txBody>
      </p:sp>
      <p:sp>
        <p:nvSpPr>
          <p:cNvPr id="8" name="poll-pareto-label-rule">
            <a:extLst xmlns:a="http://schemas.openxmlformats.org/drawingml/2006/main">
              <a:ext uri="{FF2B5EF4-FFF2-40B4-BE49-F238E27FC236}">
                <a16:creationId xmlns:a16="http://schemas.microsoft.com/office/drawing/2014/main" id="{99633A89-1CF8-4F38-805E-60957B94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poll-pareto-label-text">
            <a:extLst xmlns:a="http://schemas.openxmlformats.org/drawingml/2006/main">
              <a:ext uri="{FF2B5EF4-FFF2-40B4-BE49-F238E27FC236}">
                <a16:creationId xmlns:a16="http://schemas.microsoft.com/office/drawing/2014/main" id="{F5151C71-1055-4422-8707-665AB429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09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Client / Server CPU 与 RPC p99</a:t>
            </a:r>
          </a:p>
        </p:txBody>
      </p:sp>
      <p:sp>
        <p:nvSpPr>
          <p:cNvPr id="10" name="poll-points-label-rule">
            <a:extLst xmlns:a="http://schemas.openxmlformats.org/drawingml/2006/main">
              <a:ext uri="{FF2B5EF4-FFF2-40B4-BE49-F238E27FC236}">
                <a16:creationId xmlns:a16="http://schemas.microsoft.com/office/drawing/2014/main" id="{C0520556-7527-45CB-884B-5A39453C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poll-points-label-text">
            <a:extLst xmlns:a="http://schemas.openxmlformats.org/drawingml/2006/main">
              <a:ext uri="{FF2B5EF4-FFF2-40B4-BE49-F238E27FC236}">
                <a16:creationId xmlns:a16="http://schemas.microsoft.com/office/drawing/2014/main" id="{BDEC6880-C3B2-40F3-BF14-83278E8D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14475"/>
            <a:ext cx="3067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代表配置</a:t>
            </a:r>
          </a:p>
        </p:txBody>
      </p:sp>
      <p:sp>
        <p:nvSpPr>
          <p:cNvPr id="12" name="poll-pareto-figure-border">
            <a:extLst xmlns:a="http://schemas.openxmlformats.org/drawingml/2006/main">
              <a:ext uri="{FF2B5EF4-FFF2-40B4-BE49-F238E27FC236}">
                <a16:creationId xmlns:a16="http://schemas.microsoft.com/office/drawing/2014/main" id="{7EACBC63-F5BD-421D-85D1-5C7A72C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8096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e100f64eb489d"/>
          <a:stretch xmlns:a="http://schemas.openxmlformats.org/drawingml/2006/main"/>
        </p:blipFill>
        <p:spPr>
          <a:xfrm xmlns:a="http://schemas.openxmlformats.org/drawingml/2006/main">
            <a:off x="436486" y="1743075"/>
            <a:ext cx="8023378" cy="3867150"/>
          </a:xfrm>
          <a:prstGeom xmlns:a="http://schemas.openxmlformats.org/drawingml/2006/main" prst="rect">
            <a:avLst/>
          </a:prstGeom>
        </p:spPr>
      </p:pic>
      <p:sp>
        <p:nvSpPr>
          <p:cNvPr id="14" name="poll-pareto-table-header">
            <a:extLst xmlns:a="http://schemas.openxmlformats.org/drawingml/2006/main">
              <a:ext uri="{FF2B5EF4-FFF2-40B4-BE49-F238E27FC236}">
                <a16:creationId xmlns:a16="http://schemas.microsoft.com/office/drawing/2014/main" id="{0F1EC1C6-EEB2-4E4A-BA72-150B386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24025"/>
            <a:ext cx="3067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poll-pareto-table-header-0">
            <a:extLst xmlns:a="http://schemas.openxmlformats.org/drawingml/2006/main">
              <a:ext uri="{FF2B5EF4-FFF2-40B4-BE49-F238E27FC236}">
                <a16:creationId xmlns:a16="http://schemas.microsoft.com/office/drawing/2014/main" id="{11C991E0-7604-4614-B786-3DC7C2C7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771650"/>
            <a:ext cx="10572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配置</a:t>
            </a:r>
          </a:p>
        </p:txBody>
      </p:sp>
      <p:sp>
        <p:nvSpPr>
          <p:cNvPr id="16" name="poll-pareto-table-header-1">
            <a:extLst xmlns:a="http://schemas.openxmlformats.org/drawingml/2006/main">
              <a:ext uri="{FF2B5EF4-FFF2-40B4-BE49-F238E27FC236}">
                <a16:creationId xmlns:a16="http://schemas.microsoft.com/office/drawing/2014/main" id="{25720A14-D125-4FF3-8FAC-796D8E60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71650"/>
            <a:ext cx="5905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p99</a:t>
            </a:r>
          </a:p>
        </p:txBody>
      </p:sp>
      <p:sp>
        <p:nvSpPr>
          <p:cNvPr id="17" name="poll-pareto-table-header-2">
            <a:extLst xmlns:a="http://schemas.openxmlformats.org/drawingml/2006/main">
              <a:ext uri="{FF2B5EF4-FFF2-40B4-BE49-F238E27FC236}">
                <a16:creationId xmlns:a16="http://schemas.microsoft.com/office/drawing/2014/main" id="{8CA8C9C9-77E7-4863-917C-FC2B242B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71650"/>
            <a:ext cx="10191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0759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Client / Server CPU</a:t>
            </a:r>
          </a:p>
        </p:txBody>
      </p:sp>
      <p:sp>
        <p:nvSpPr>
          <p:cNvPr id="18" name="poll-pareto-table-row-0">
            <a:extLst xmlns:a="http://schemas.openxmlformats.org/drawingml/2006/main">
              <a:ext uri="{FF2B5EF4-FFF2-40B4-BE49-F238E27FC236}">
                <a16:creationId xmlns:a16="http://schemas.microsoft.com/office/drawing/2014/main" id="{D4CBF027-3C59-4EDC-810E-C9772A1A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3067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poll-pareto-table-r0-c0">
            <a:extLst xmlns:a="http://schemas.openxmlformats.org/drawingml/2006/main">
              <a:ext uri="{FF2B5EF4-FFF2-40B4-BE49-F238E27FC236}">
                <a16:creationId xmlns:a16="http://schemas.microsoft.com/office/drawing/2014/main" id="{C2226C38-C295-4204-89DB-24AB8C32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47875"/>
            <a:ext cx="10572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HOT POLL</a:t>
            </a:r>
          </a:p>
        </p:txBody>
      </p:sp>
      <p:sp>
        <p:nvSpPr>
          <p:cNvPr id="20" name="poll-pareto-table-r0-c1">
            <a:extLst xmlns:a="http://schemas.openxmlformats.org/drawingml/2006/main">
              <a:ext uri="{FF2B5EF4-FFF2-40B4-BE49-F238E27FC236}">
                <a16:creationId xmlns:a16="http://schemas.microsoft.com/office/drawing/2014/main" id="{BC5A7E75-D9A5-4D44-B19B-B0CAE8F6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47875"/>
            <a:ext cx="5905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6328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98.67 µs</a:t>
            </a:r>
          </a:p>
        </p:txBody>
      </p:sp>
      <p:sp>
        <p:nvSpPr>
          <p:cNvPr id="21" name="poll-pareto-table-r0-c2">
            <a:extLst xmlns:a="http://schemas.openxmlformats.org/drawingml/2006/main">
              <a:ext uri="{FF2B5EF4-FFF2-40B4-BE49-F238E27FC236}">
                <a16:creationId xmlns:a16="http://schemas.microsoft.com/office/drawing/2014/main" id="{05895C8F-86BD-4537-B66F-AF4B428F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047875"/>
            <a:ext cx="10191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5938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100.25% / 97.75%</a:t>
            </a:r>
          </a:p>
        </p:txBody>
      </p:sp>
      <p:sp>
        <p:nvSpPr>
          <p:cNvPr id="22" name="poll-pareto-table-row-1">
            <a:extLst xmlns:a="http://schemas.openxmlformats.org/drawingml/2006/main">
              <a:ext uri="{FF2B5EF4-FFF2-40B4-BE49-F238E27FC236}">
                <a16:creationId xmlns:a16="http://schemas.microsoft.com/office/drawing/2014/main" id="{34F2B87E-3D8B-485E-8023-1ED7107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90775"/>
            <a:ext cx="3067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poll-pareto-table-r1-c0">
            <a:extLst xmlns:a="http://schemas.openxmlformats.org/drawingml/2006/main">
              <a:ext uri="{FF2B5EF4-FFF2-40B4-BE49-F238E27FC236}">
                <a16:creationId xmlns:a16="http://schemas.microsoft.com/office/drawing/2014/main" id="{07B144D5-69D9-487A-ABD1-2E44E7CD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38400"/>
            <a:ext cx="10572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TCP Socket</a:t>
            </a:r>
          </a:p>
        </p:txBody>
      </p:sp>
      <p:sp>
        <p:nvSpPr>
          <p:cNvPr id="24" name="poll-pareto-table-r1-c1">
            <a:extLst xmlns:a="http://schemas.openxmlformats.org/drawingml/2006/main">
              <a:ext uri="{FF2B5EF4-FFF2-40B4-BE49-F238E27FC236}">
                <a16:creationId xmlns:a16="http://schemas.microsoft.com/office/drawing/2014/main" id="{D891E857-5E77-43A7-9977-AAE2EA59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38400"/>
            <a:ext cx="5905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5441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99.65 µs</a:t>
            </a:r>
          </a:p>
        </p:txBody>
      </p:sp>
      <p:sp>
        <p:nvSpPr>
          <p:cNvPr id="25" name="poll-pareto-table-r1-c2">
            <a:extLst xmlns:a="http://schemas.openxmlformats.org/drawingml/2006/main">
              <a:ext uri="{FF2B5EF4-FFF2-40B4-BE49-F238E27FC236}">
                <a16:creationId xmlns:a16="http://schemas.microsoft.com/office/drawing/2014/main" id="{270BB9F3-C65B-4A5A-9F78-9C75DE6E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438400"/>
            <a:ext cx="10191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228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1.19% / 0.72%</a:t>
            </a:r>
          </a:p>
        </p:txBody>
      </p:sp>
      <p:sp>
        <p:nvSpPr>
          <p:cNvPr id="26" name="poll-pareto-table-row-2">
            <a:extLst xmlns:a="http://schemas.openxmlformats.org/drawingml/2006/main">
              <a:ext uri="{FF2B5EF4-FFF2-40B4-BE49-F238E27FC236}">
                <a16:creationId xmlns:a16="http://schemas.microsoft.com/office/drawing/2014/main" id="{A7F9B455-5C27-4E7D-ABE6-E871D44C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3067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poll-pareto-table-r2-c0">
            <a:extLst xmlns:a="http://schemas.openxmlformats.org/drawingml/2006/main">
              <a:ext uri="{FF2B5EF4-FFF2-40B4-BE49-F238E27FC236}">
                <a16:creationId xmlns:a16="http://schemas.microsoft.com/office/drawing/2014/main" id="{58AC16E7-D515-4272-903C-4CD0CA20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28925"/>
            <a:ext cx="10572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984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BUD=0 / 10 µs</a:t>
            </a:r>
          </a:p>
        </p:txBody>
      </p:sp>
      <p:sp>
        <p:nvSpPr>
          <p:cNvPr id="28" name="poll-pareto-table-r2-c1">
            <a:extLst xmlns:a="http://schemas.openxmlformats.org/drawingml/2006/main">
              <a:ext uri="{FF2B5EF4-FFF2-40B4-BE49-F238E27FC236}">
                <a16:creationId xmlns:a16="http://schemas.microsoft.com/office/drawing/2014/main" id="{8E086493-D17A-4B1F-96CF-98FD0A92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28925"/>
            <a:ext cx="5905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4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99.13 µs</a:t>
            </a:r>
          </a:p>
        </p:txBody>
      </p:sp>
      <p:sp>
        <p:nvSpPr>
          <p:cNvPr id="29" name="poll-pareto-table-r2-c2">
            <a:extLst xmlns:a="http://schemas.openxmlformats.org/drawingml/2006/main">
              <a:ext uri="{FF2B5EF4-FFF2-40B4-BE49-F238E27FC236}">
                <a16:creationId xmlns:a16="http://schemas.microsoft.com/office/drawing/2014/main" id="{691F92AC-6C86-481B-93FD-60399748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28925"/>
            <a:ext cx="10191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5938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13.55% / 13.29%</a:t>
            </a:r>
          </a:p>
        </p:txBody>
      </p:sp>
      <p:sp>
        <p:nvSpPr>
          <p:cNvPr id="30" name="poll-pareto-table-row-3">
            <a:extLst xmlns:a="http://schemas.openxmlformats.org/drawingml/2006/main">
              <a:ext uri="{FF2B5EF4-FFF2-40B4-BE49-F238E27FC236}">
                <a16:creationId xmlns:a16="http://schemas.microsoft.com/office/drawing/2014/main" id="{8E6EF9C2-DA3C-4EFC-AA78-695F61E0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71825"/>
            <a:ext cx="3067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poll-pareto-table-r3-c0">
            <a:extLst xmlns:a="http://schemas.openxmlformats.org/drawingml/2006/main">
              <a:ext uri="{FF2B5EF4-FFF2-40B4-BE49-F238E27FC236}">
                <a16:creationId xmlns:a16="http://schemas.microsoft.com/office/drawing/2014/main" id="{A77EACBF-5FA9-4E23-8AA9-514A162A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19450"/>
            <a:ext cx="10572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BUD=1024 / 10 µs</a:t>
            </a:r>
          </a:p>
        </p:txBody>
      </p:sp>
      <p:sp>
        <p:nvSpPr>
          <p:cNvPr id="32" name="poll-pareto-table-r3-c1">
            <a:extLst xmlns:a="http://schemas.openxmlformats.org/drawingml/2006/main">
              <a:ext uri="{FF2B5EF4-FFF2-40B4-BE49-F238E27FC236}">
                <a16:creationId xmlns:a16="http://schemas.microsoft.com/office/drawing/2014/main" id="{BD815A28-BF28-40CE-9580-9076334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19450"/>
            <a:ext cx="5905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5441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98.69 µs</a:t>
            </a:r>
          </a:p>
        </p:txBody>
      </p:sp>
      <p:sp>
        <p:nvSpPr>
          <p:cNvPr id="33" name="poll-pareto-table-r3-c2">
            <a:extLst xmlns:a="http://schemas.openxmlformats.org/drawingml/2006/main">
              <a:ext uri="{FF2B5EF4-FFF2-40B4-BE49-F238E27FC236}">
                <a16:creationId xmlns:a16="http://schemas.microsoft.com/office/drawing/2014/main" id="{2A5B4234-C167-463C-8AA4-12E07F3F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19450"/>
            <a:ext cx="10191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5938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97.81% / 93.90%</a:t>
            </a:r>
          </a:p>
        </p:txBody>
      </p:sp>
      <p:sp>
        <p:nvSpPr>
          <p:cNvPr id="34" name="poll-pareto-table-row-4">
            <a:extLst xmlns:a="http://schemas.openxmlformats.org/drawingml/2006/main">
              <a:ext uri="{FF2B5EF4-FFF2-40B4-BE49-F238E27FC236}">
                <a16:creationId xmlns:a16="http://schemas.microsoft.com/office/drawing/2014/main" id="{FB1AC3CE-4285-415A-AD94-69E3602B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3067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poll-pareto-table-r4-c0">
            <a:extLst xmlns:a="http://schemas.openxmlformats.org/drawingml/2006/main">
              <a:ext uri="{FF2B5EF4-FFF2-40B4-BE49-F238E27FC236}">
                <a16:creationId xmlns:a16="http://schemas.microsoft.com/office/drawing/2014/main" id="{4B504DCD-B889-48AF-B174-65B15658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09975"/>
            <a:ext cx="10572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BUD=0 / 1 ms</a:t>
            </a:r>
          </a:p>
        </p:txBody>
      </p:sp>
      <p:sp>
        <p:nvSpPr>
          <p:cNvPr id="36" name="poll-pareto-table-r4-c1">
            <a:extLst xmlns:a="http://schemas.openxmlformats.org/drawingml/2006/main">
              <a:ext uri="{FF2B5EF4-FFF2-40B4-BE49-F238E27FC236}">
                <a16:creationId xmlns:a16="http://schemas.microsoft.com/office/drawing/2014/main" id="{9D181A8F-7127-4E9F-BDDD-B656254C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09975"/>
            <a:ext cx="5905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2891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1.888 ms</a:t>
            </a:r>
          </a:p>
        </p:txBody>
      </p:sp>
      <p:sp>
        <p:nvSpPr>
          <p:cNvPr id="37" name="poll-pareto-table-r4-c2">
            <a:extLst xmlns:a="http://schemas.openxmlformats.org/drawingml/2006/main">
              <a:ext uri="{FF2B5EF4-FFF2-40B4-BE49-F238E27FC236}">
                <a16:creationId xmlns:a16="http://schemas.microsoft.com/office/drawing/2014/main" id="{34A9A2A1-6419-491E-BA83-0344EBEA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09975"/>
            <a:ext cx="1019175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228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1.13% / 0.70%</a:t>
            </a:r>
          </a:p>
        </p:txBody>
      </p:sp>
      <p:sp>
        <p:nvSpPr>
          <p:cNvPr id="38" name="poll-pareto-result-bg">
            <a:extLst xmlns:a="http://schemas.openxmlformats.org/drawingml/2006/main">
              <a:ext uri="{FF2B5EF4-FFF2-40B4-BE49-F238E27FC236}">
                <a16:creationId xmlns:a16="http://schemas.microsoft.com/office/drawing/2014/main" id="{B623C3FD-EC4A-403E-94DD-64BA4C7A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05275"/>
            <a:ext cx="3067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39" name="poll-pareto-result-text">
            <a:extLst xmlns:a="http://schemas.openxmlformats.org/drawingml/2006/main">
              <a:ext uri="{FF2B5EF4-FFF2-40B4-BE49-F238E27FC236}">
                <a16:creationId xmlns:a16="http://schemas.microsoft.com/office/drawing/2014/main" id="{18ECBDF9-7D4A-465B-85B0-49533883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2800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在本次 350 QPS 单次 sweep 中，BUD=0 / SLEEP=10 µs 的 p99 接近 HOT，同时 client/server CPU 明显降低。</a:t>
            </a:r>
          </a:p>
        </p:txBody>
      </p:sp>
    </p:spTree>
    <p:extLst>
      <p:ext uri="{BB962C8B-B14F-4D97-AF65-F5344CB8AC3E}">
        <p14:creationId xmlns:p14="http://schemas.microsoft.com/office/powerpoint/2010/main" val="1045552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accent-2">
            <a:extLst xmlns:a="http://schemas.openxmlformats.org/drawingml/2006/main">
              <a:ext uri="{FF2B5EF4-FFF2-40B4-BE49-F238E27FC236}">
                <a16:creationId xmlns:a16="http://schemas.microsoft.com/office/drawing/2014/main" id="{64413F52-E102-42C2-B9DC-D1D1B602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6660329-9D2F-4238-AE6A-D6F2E916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1391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 × SLEEP Latency Sweep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A923069-0A40-49A4-9209-E4616599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413A6F93-EB1E-49F1-BB6D-E131405C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single 15 s sweep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0BE0D919-984C-4129-B666-6C890437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poll-latency-conditions-bg">
            <a:extLst xmlns:a="http://schemas.openxmlformats.org/drawingml/2006/main">
              <a:ext uri="{FF2B5EF4-FFF2-40B4-BE49-F238E27FC236}">
                <a16:creationId xmlns:a16="http://schemas.microsoft.com/office/drawing/2014/main" id="{5F472BA2-4819-43FB-8F3F-C36D398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19175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poll-latency-conditions-text">
            <a:extLst xmlns:a="http://schemas.openxmlformats.org/drawingml/2006/main">
              <a:ext uri="{FF2B5EF4-FFF2-40B4-BE49-F238E27FC236}">
                <a16:creationId xmlns:a16="http://schemas.microsoft.com/office/drawing/2014/main" id="{6A175449-1BAE-48CC-8A49-E1480CD8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BUD={0,16,128,1024} · SLEEP={1,10,100,1000,10000} µs · metrics={p50,p99,p99.9}</a:t>
            </a:r>
          </a:p>
        </p:txBody>
      </p:sp>
      <p:sp>
        <p:nvSpPr>
          <p:cNvPr id="8" name="poll-latency-label-rule">
            <a:extLst xmlns:a="http://schemas.openxmlformats.org/drawingml/2006/main">
              <a:ext uri="{FF2B5EF4-FFF2-40B4-BE49-F238E27FC236}">
                <a16:creationId xmlns:a16="http://schemas.microsoft.com/office/drawing/2014/main" id="{1240DC82-77CC-4602-A471-493BDC05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poll-latency-label-text">
            <a:extLst xmlns:a="http://schemas.openxmlformats.org/drawingml/2006/main">
              <a:ext uri="{FF2B5EF4-FFF2-40B4-BE49-F238E27FC236}">
                <a16:creationId xmlns:a16="http://schemas.microsoft.com/office/drawing/2014/main" id="{8EFEE506-37BB-45F5-BD7D-F59FD5C9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76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Latency by configured SLEEP</a:t>
            </a:r>
          </a:p>
        </p:txBody>
      </p:sp>
      <p:sp>
        <p:nvSpPr>
          <p:cNvPr id="10" name="poll-latency-range-label-rule">
            <a:extLst xmlns:a="http://schemas.openxmlformats.org/drawingml/2006/main">
              <a:ext uri="{FF2B5EF4-FFF2-40B4-BE49-F238E27FC236}">
                <a16:creationId xmlns:a16="http://schemas.microsoft.com/office/drawing/2014/main" id="{3771B017-9A5E-4855-8703-919F3E6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poll-latency-range-label-text">
            <a:extLst xmlns:a="http://schemas.openxmlformats.org/drawingml/2006/main">
              <a:ext uri="{FF2B5EF4-FFF2-40B4-BE49-F238E27FC236}">
                <a16:creationId xmlns:a16="http://schemas.microsoft.com/office/drawing/2014/main" id="{52B98DB7-A244-42F4-BA87-72D29127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14475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p99 测量范围</a:t>
            </a:r>
          </a:p>
        </p:txBody>
      </p:sp>
      <p:sp>
        <p:nvSpPr>
          <p:cNvPr id="12" name="poll-latency-figure-border">
            <a:extLst xmlns:a="http://schemas.openxmlformats.org/drawingml/2006/main">
              <a:ext uri="{FF2B5EF4-FFF2-40B4-BE49-F238E27FC236}">
                <a16:creationId xmlns:a16="http://schemas.microsoft.com/office/drawing/2014/main" id="{140DBC67-BFBB-4A5D-BE1F-63615A97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8763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11103c53b4599"/>
          <a:stretch xmlns:a="http://schemas.openxmlformats.org/drawingml/2006/main"/>
        </p:blipFill>
        <p:spPr>
          <a:xfrm xmlns:a="http://schemas.openxmlformats.org/drawingml/2006/main">
            <a:off x="440301" y="1743075"/>
            <a:ext cx="8682499" cy="3695700"/>
          </a:xfrm>
          <a:prstGeom xmlns:a="http://schemas.openxmlformats.org/drawingml/2006/main" prst="rect">
            <a:avLst/>
          </a:prstGeom>
        </p:spPr>
      </p:pic>
      <p:sp>
        <p:nvSpPr>
          <p:cNvPr id="14" name="poll-latency-range-table-header">
            <a:extLst xmlns:a="http://schemas.openxmlformats.org/drawingml/2006/main">
              <a:ext uri="{FF2B5EF4-FFF2-40B4-BE49-F238E27FC236}">
                <a16:creationId xmlns:a16="http://schemas.microsoft.com/office/drawing/2014/main" id="{CDA8D2E5-B415-4F72-9040-2990167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24025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poll-latency-range-table-header-0">
            <a:extLst xmlns:a="http://schemas.openxmlformats.org/drawingml/2006/main">
              <a:ext uri="{FF2B5EF4-FFF2-40B4-BE49-F238E27FC236}">
                <a16:creationId xmlns:a16="http://schemas.microsoft.com/office/drawing/2014/main" id="{3A9FA66B-DC2A-4562-831C-E1E59682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77165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SLEEP</a:t>
            </a:r>
          </a:p>
        </p:txBody>
      </p:sp>
      <p:sp>
        <p:nvSpPr>
          <p:cNvPr id="16" name="poll-latency-range-table-header-1">
            <a:extLst xmlns:a="http://schemas.openxmlformats.org/drawingml/2006/main">
              <a:ext uri="{FF2B5EF4-FFF2-40B4-BE49-F238E27FC236}">
                <a16:creationId xmlns:a16="http://schemas.microsoft.com/office/drawing/2014/main" id="{50BF5C0D-F49C-4318-AF14-5E75E4C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771650"/>
            <a:ext cx="1581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p99 范围</a:t>
            </a:r>
          </a:p>
        </p:txBody>
      </p:sp>
      <p:sp>
        <p:nvSpPr>
          <p:cNvPr id="17" name="poll-latency-range-table-row-0">
            <a:extLst xmlns:a="http://schemas.openxmlformats.org/drawingml/2006/main">
              <a:ext uri="{FF2B5EF4-FFF2-40B4-BE49-F238E27FC236}">
                <a16:creationId xmlns:a16="http://schemas.microsoft.com/office/drawing/2014/main" id="{CC7D9F88-33DC-46B1-8043-D6903679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90725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poll-latency-range-table-r0-c0">
            <a:extLst xmlns:a="http://schemas.openxmlformats.org/drawingml/2006/main">
              <a:ext uri="{FF2B5EF4-FFF2-40B4-BE49-F238E27FC236}">
                <a16:creationId xmlns:a16="http://schemas.microsoft.com/office/drawing/2014/main" id="{B73A7B07-1B56-45F4-B1FB-96B2C995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383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 µs</a:t>
            </a:r>
          </a:p>
        </p:txBody>
      </p:sp>
      <p:sp>
        <p:nvSpPr>
          <p:cNvPr id="19" name="poll-latency-range-table-r0-c1">
            <a:extLst xmlns:a="http://schemas.openxmlformats.org/drawingml/2006/main">
              <a:ext uri="{FF2B5EF4-FFF2-40B4-BE49-F238E27FC236}">
                <a16:creationId xmlns:a16="http://schemas.microsoft.com/office/drawing/2014/main" id="{A466CAEF-8381-4C4C-ACAC-29FB2EAC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383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98.72–98.97 µs</a:t>
            </a:r>
          </a:p>
        </p:txBody>
      </p:sp>
      <p:sp>
        <p:nvSpPr>
          <p:cNvPr id="20" name="poll-latency-range-table-row-1">
            <a:extLst xmlns:a="http://schemas.openxmlformats.org/drawingml/2006/main">
              <a:ext uri="{FF2B5EF4-FFF2-40B4-BE49-F238E27FC236}">
                <a16:creationId xmlns:a16="http://schemas.microsoft.com/office/drawing/2014/main" id="{56E460A2-37CB-4937-8542-646385A2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47925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poll-latency-range-table-r1-c0">
            <a:extLst xmlns:a="http://schemas.openxmlformats.org/drawingml/2006/main">
              <a:ext uri="{FF2B5EF4-FFF2-40B4-BE49-F238E27FC236}">
                <a16:creationId xmlns:a16="http://schemas.microsoft.com/office/drawing/2014/main" id="{E0D10960-1D51-488A-A55C-BECB262D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955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 µs</a:t>
            </a:r>
          </a:p>
        </p:txBody>
      </p:sp>
      <p:sp>
        <p:nvSpPr>
          <p:cNvPr id="22" name="poll-latency-range-table-r1-c1">
            <a:extLst xmlns:a="http://schemas.openxmlformats.org/drawingml/2006/main">
              <a:ext uri="{FF2B5EF4-FFF2-40B4-BE49-F238E27FC236}">
                <a16:creationId xmlns:a16="http://schemas.microsoft.com/office/drawing/2014/main" id="{3F9AC6D7-9436-445C-949A-53592261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4955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98.69–99.13 µs</a:t>
            </a:r>
          </a:p>
        </p:txBody>
      </p:sp>
      <p:sp>
        <p:nvSpPr>
          <p:cNvPr id="23" name="poll-latency-range-table-row-2">
            <a:extLst xmlns:a="http://schemas.openxmlformats.org/drawingml/2006/main">
              <a:ext uri="{FF2B5EF4-FFF2-40B4-BE49-F238E27FC236}">
                <a16:creationId xmlns:a16="http://schemas.microsoft.com/office/drawing/2014/main" id="{BF7DAA6D-E399-48B1-B42B-23E11462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05125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poll-latency-range-table-r2-c0">
            <a:extLst xmlns:a="http://schemas.openxmlformats.org/drawingml/2006/main">
              <a:ext uri="{FF2B5EF4-FFF2-40B4-BE49-F238E27FC236}">
                <a16:creationId xmlns:a16="http://schemas.microsoft.com/office/drawing/2014/main" id="{747B67BC-3A92-4A82-8AF6-548493CA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527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100 µs</a:t>
            </a:r>
          </a:p>
        </p:txBody>
      </p:sp>
      <p:sp>
        <p:nvSpPr>
          <p:cNvPr id="25" name="poll-latency-range-table-r2-c1">
            <a:extLst xmlns:a="http://schemas.openxmlformats.org/drawingml/2006/main">
              <a:ext uri="{FF2B5EF4-FFF2-40B4-BE49-F238E27FC236}">
                <a16:creationId xmlns:a16="http://schemas.microsoft.com/office/drawing/2014/main" id="{1C268F2A-FAE3-48D4-A8FB-87B5288E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9527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179.95–270.72 µs</a:t>
            </a:r>
          </a:p>
        </p:txBody>
      </p:sp>
      <p:sp>
        <p:nvSpPr>
          <p:cNvPr id="26" name="poll-latency-range-table-row-3">
            <a:extLst xmlns:a="http://schemas.openxmlformats.org/drawingml/2006/main">
              <a:ext uri="{FF2B5EF4-FFF2-40B4-BE49-F238E27FC236}">
                <a16:creationId xmlns:a16="http://schemas.microsoft.com/office/drawing/2014/main" id="{8DF88CDB-A6A4-4FAE-8D3F-C2C717B3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62325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poll-latency-range-table-r3-c0">
            <a:extLst xmlns:a="http://schemas.openxmlformats.org/drawingml/2006/main">
              <a:ext uri="{FF2B5EF4-FFF2-40B4-BE49-F238E27FC236}">
                <a16:creationId xmlns:a16="http://schemas.microsoft.com/office/drawing/2014/main" id="{E8DE4C4F-7D62-4CAE-AA2C-E186D4CF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4099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 ms</a:t>
            </a:r>
          </a:p>
        </p:txBody>
      </p:sp>
      <p:sp>
        <p:nvSpPr>
          <p:cNvPr id="28" name="poll-latency-range-table-r3-c1">
            <a:extLst xmlns:a="http://schemas.openxmlformats.org/drawingml/2006/main">
              <a:ext uri="{FF2B5EF4-FFF2-40B4-BE49-F238E27FC236}">
                <a16:creationId xmlns:a16="http://schemas.microsoft.com/office/drawing/2014/main" id="{52D5CBE8-CD19-41A5-BE87-9608D8F6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099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1.130–1.888 ms</a:t>
            </a:r>
          </a:p>
        </p:txBody>
      </p:sp>
      <p:sp>
        <p:nvSpPr>
          <p:cNvPr id="29" name="poll-latency-range-table-row-4">
            <a:extLst xmlns:a="http://schemas.openxmlformats.org/drawingml/2006/main">
              <a:ext uri="{FF2B5EF4-FFF2-40B4-BE49-F238E27FC236}">
                <a16:creationId xmlns:a16="http://schemas.microsoft.com/office/drawing/2014/main" id="{AD1606C9-19F8-40A8-9545-8A631732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19525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poll-latency-range-table-r4-c0">
            <a:extLst xmlns:a="http://schemas.openxmlformats.org/drawingml/2006/main">
              <a:ext uri="{FF2B5EF4-FFF2-40B4-BE49-F238E27FC236}">
                <a16:creationId xmlns:a16="http://schemas.microsoft.com/office/drawing/2014/main" id="{402EB692-F711-4712-AABB-0173087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867150"/>
            <a:ext cx="55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 ms</a:t>
            </a:r>
          </a:p>
        </p:txBody>
      </p:sp>
      <p:sp>
        <p:nvSpPr>
          <p:cNvPr id="31" name="poll-latency-range-table-r4-c1">
            <a:extLst xmlns:a="http://schemas.openxmlformats.org/drawingml/2006/main">
              <a:ext uri="{FF2B5EF4-FFF2-40B4-BE49-F238E27FC236}">
                <a16:creationId xmlns:a16="http://schemas.microsoft.com/office/drawing/2014/main" id="{E86432CA-490C-4F44-A6B3-74908E19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867150"/>
            <a:ext cx="158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16.125–18.674 ms</a:t>
            </a:r>
          </a:p>
        </p:txBody>
      </p:sp>
      <p:sp>
        <p:nvSpPr>
          <p:cNvPr id="32" name="poll-latency-note-bg">
            <a:extLst xmlns:a="http://schemas.openxmlformats.org/drawingml/2006/main">
              <a:ext uri="{FF2B5EF4-FFF2-40B4-BE49-F238E27FC236}">
                <a16:creationId xmlns:a16="http://schemas.microsoft.com/office/drawing/2014/main" id="{A68D74D2-6CEC-40DD-AE21-38AA60A8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14850"/>
            <a:ext cx="2400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33" name="poll-latency-note-text">
            <a:extLst xmlns:a="http://schemas.openxmlformats.org/drawingml/2006/main">
              <a:ext uri="{FF2B5EF4-FFF2-40B4-BE49-F238E27FC236}">
                <a16:creationId xmlns:a16="http://schemas.microsoft.com/office/drawing/2014/main" id="{1EA150F5-0ADD-4774-8D03-DD962FB9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00575"/>
            <a:ext cx="2133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p99.9 约对应 5 个尾部样本，仅用于趋势观察。</a:t>
            </a:r>
          </a:p>
        </p:txBody>
      </p:sp>
    </p:spTree>
    <p:extLst>
      <p:ext uri="{BB962C8B-B14F-4D97-AF65-F5344CB8AC3E}">
        <p14:creationId xmlns:p14="http://schemas.microsoft.com/office/powerpoint/2010/main" val="1513777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accent-3">
            <a:extLst xmlns:a="http://schemas.openxmlformats.org/drawingml/2006/main">
              <a:ext uri="{FF2B5EF4-FFF2-40B4-BE49-F238E27FC236}">
                <a16:creationId xmlns:a16="http://schemas.microsoft.com/office/drawing/2014/main" id="{8CD57A33-2243-4847-BBFD-F0CF36D7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8CA4BA1-91E1-4E1F-8F41-EEEA76F5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1391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 × SLEEP CPU Sweep 与参数矩阵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144529B4-C398-465E-BB95-80D64877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8B4A18E8-1EBD-4572-9DDB-6A0F15EE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single 15 s sweep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2FF8AD79-DD09-402A-8AFA-75EBC945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poll-cpu-conditions-bg">
            <a:extLst xmlns:a="http://schemas.openxmlformats.org/drawingml/2006/main">
              <a:ext uri="{FF2B5EF4-FFF2-40B4-BE49-F238E27FC236}">
                <a16:creationId xmlns:a16="http://schemas.microsoft.com/office/drawing/2014/main" id="{4ADEEDC7-CEA2-43C5-BFFE-C6709944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19175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poll-cpu-conditions-text">
            <a:extLst xmlns:a="http://schemas.openxmlformats.org/drawingml/2006/main">
              <a:ext uri="{FF2B5EF4-FFF2-40B4-BE49-F238E27FC236}">
                <a16:creationId xmlns:a16="http://schemas.microsoft.com/office/drawing/2014/main" id="{91664861-9D66-4B2D-A332-83E3D94A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同一参数矩阵同时观察 client/server CPU、p50 与 p99；HOT POLL 和 TCP Socket 作为参考点</a:t>
            </a:r>
          </a:p>
        </p:txBody>
      </p:sp>
      <p:sp>
        <p:nvSpPr>
          <p:cNvPr id="8" name="poll-cpu-label-rule">
            <a:extLst xmlns:a="http://schemas.openxmlformats.org/drawingml/2006/main">
              <a:ext uri="{FF2B5EF4-FFF2-40B4-BE49-F238E27FC236}">
                <a16:creationId xmlns:a16="http://schemas.microsoft.com/office/drawing/2014/main" id="{60352E77-9C8D-4D9F-BC3C-64FEBE98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poll-cpu-label-text">
            <a:extLst xmlns:a="http://schemas.openxmlformats.org/drawingml/2006/main">
              <a:ext uri="{FF2B5EF4-FFF2-40B4-BE49-F238E27FC236}">
                <a16:creationId xmlns:a16="http://schemas.microsoft.com/office/drawing/2014/main" id="{F96477A1-C557-4980-A5E9-75D984A0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Client / Server CPU</a:t>
            </a:r>
          </a:p>
        </p:txBody>
      </p:sp>
      <p:sp>
        <p:nvSpPr>
          <p:cNvPr id="10" name="poll-heatmap-label-rule">
            <a:extLst xmlns:a="http://schemas.openxmlformats.org/drawingml/2006/main">
              <a:ext uri="{FF2B5EF4-FFF2-40B4-BE49-F238E27FC236}">
                <a16:creationId xmlns:a16="http://schemas.microsoft.com/office/drawing/2014/main" id="{4CD865CE-64E7-4329-8059-AD592A04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382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poll-heatmap-label-text">
            <a:extLst xmlns:a="http://schemas.openxmlformats.org/drawingml/2006/main">
              <a:ext uri="{FF2B5EF4-FFF2-40B4-BE49-F238E27FC236}">
                <a16:creationId xmlns:a16="http://schemas.microsoft.com/office/drawing/2014/main" id="{AE75E39A-860F-400C-AEB7-A46250CC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14475"/>
            <a:ext cx="550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 × SLEEP 参数矩阵</a:t>
            </a:r>
          </a:p>
        </p:txBody>
      </p:sp>
      <p:sp>
        <p:nvSpPr>
          <p:cNvPr id="12" name="poll-cpu-figure-border">
            <a:extLst xmlns:a="http://schemas.openxmlformats.org/drawingml/2006/main">
              <a:ext uri="{FF2B5EF4-FFF2-40B4-BE49-F238E27FC236}">
                <a16:creationId xmlns:a16="http://schemas.microsoft.com/office/drawing/2014/main" id="{70F80F45-7502-4D72-A100-6BB12F8C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5715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17f9a3d9f4702"/>
          <a:stretch xmlns:a="http://schemas.openxmlformats.org/drawingml/2006/main"/>
        </p:blipFill>
        <p:spPr>
          <a:xfrm xmlns:a="http://schemas.openxmlformats.org/drawingml/2006/main">
            <a:off x="450471" y="1743075"/>
            <a:ext cx="5614158" cy="2390775"/>
          </a:xfrm>
          <a:prstGeom xmlns:a="http://schemas.openxmlformats.org/drawingml/2006/main" prst="rect">
            <a:avLst/>
          </a:prstGeom>
        </p:spPr>
      </p:pic>
      <p:sp>
        <p:nvSpPr>
          <p:cNvPr id="14" name="poll-heatmap-figure-border">
            <a:extLst xmlns:a="http://schemas.openxmlformats.org/drawingml/2006/main">
              <a:ext uri="{FF2B5EF4-FFF2-40B4-BE49-F238E27FC236}">
                <a16:creationId xmlns:a16="http://schemas.microsoft.com/office/drawing/2014/main" id="{004CBFC3-647C-4C57-B384-7BF74DA3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24025"/>
            <a:ext cx="55054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3e2d680374a2f"/>
          <a:stretch xmlns:a="http://schemas.openxmlformats.org/drawingml/2006/main"/>
        </p:blipFill>
        <p:spPr>
          <a:xfrm xmlns:a="http://schemas.openxmlformats.org/drawingml/2006/main">
            <a:off x="6313902" y="1743075"/>
            <a:ext cx="5450646" cy="3790950"/>
          </a:xfrm>
          <a:prstGeom xmlns:a="http://schemas.openxmlformats.org/drawingml/2006/main" prst="rect">
            <a:avLst/>
          </a:prstGeom>
        </p:spPr>
      </p:pic>
      <p:sp>
        <p:nvSpPr>
          <p:cNvPr id="16" name="poll-cpu-config-table-header">
            <a:extLst xmlns:a="http://schemas.openxmlformats.org/drawingml/2006/main">
              <a:ext uri="{FF2B5EF4-FFF2-40B4-BE49-F238E27FC236}">
                <a16:creationId xmlns:a16="http://schemas.microsoft.com/office/drawing/2014/main" id="{48112481-62E6-40D5-8786-EE790033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571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poll-cpu-config-table-header-0">
            <a:extLst xmlns:a="http://schemas.openxmlformats.org/drawingml/2006/main">
              <a:ext uri="{FF2B5EF4-FFF2-40B4-BE49-F238E27FC236}">
                <a16:creationId xmlns:a16="http://schemas.microsoft.com/office/drawing/2014/main" id="{E253D503-9005-4A40-A4D7-B67DD667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333875"/>
            <a:ext cx="18669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配置</a:t>
            </a:r>
          </a:p>
        </p:txBody>
      </p:sp>
      <p:sp>
        <p:nvSpPr>
          <p:cNvPr id="18" name="poll-cpu-config-table-header-1">
            <a:extLst xmlns:a="http://schemas.openxmlformats.org/drawingml/2006/main">
              <a:ext uri="{FF2B5EF4-FFF2-40B4-BE49-F238E27FC236}">
                <a16:creationId xmlns:a16="http://schemas.microsoft.com/office/drawing/2014/main" id="{79B39AFD-1B69-4401-8B29-FED71DBB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333875"/>
            <a:ext cx="914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p99</a:t>
            </a:r>
          </a:p>
        </p:txBody>
      </p:sp>
      <p:sp>
        <p:nvSpPr>
          <p:cNvPr id="19" name="poll-cpu-config-table-header-2">
            <a:extLst xmlns:a="http://schemas.openxmlformats.org/drawingml/2006/main">
              <a:ext uri="{FF2B5EF4-FFF2-40B4-BE49-F238E27FC236}">
                <a16:creationId xmlns:a16="http://schemas.microsoft.com/office/drawing/2014/main" id="{BE8C7B57-CEEE-4AD0-B20A-96A73671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33875"/>
            <a:ext cx="12001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Client CPU</a:t>
            </a:r>
          </a:p>
        </p:txBody>
      </p:sp>
      <p:sp>
        <p:nvSpPr>
          <p:cNvPr id="20" name="poll-cpu-config-table-header-3">
            <a:extLst xmlns:a="http://schemas.openxmlformats.org/drawingml/2006/main">
              <a:ext uri="{FF2B5EF4-FFF2-40B4-BE49-F238E27FC236}">
                <a16:creationId xmlns:a16="http://schemas.microsoft.com/office/drawing/2014/main" id="{877F9374-8733-4961-8EC3-267C1C2A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333875"/>
            <a:ext cx="12001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Server CPU</a:t>
            </a:r>
          </a:p>
        </p:txBody>
      </p:sp>
      <p:sp>
        <p:nvSpPr>
          <p:cNvPr id="21" name="poll-cpu-config-table-row-0">
            <a:extLst xmlns:a="http://schemas.openxmlformats.org/drawingml/2006/main">
              <a:ext uri="{FF2B5EF4-FFF2-40B4-BE49-F238E27FC236}">
                <a16:creationId xmlns:a16="http://schemas.microsoft.com/office/drawing/2014/main" id="{976F0D87-B73D-4D38-9DF1-BE29E29D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poll-cpu-config-table-r0-c0">
            <a:extLst xmlns:a="http://schemas.openxmlformats.org/drawingml/2006/main">
              <a:ext uri="{FF2B5EF4-FFF2-40B4-BE49-F238E27FC236}">
                <a16:creationId xmlns:a16="http://schemas.microsoft.com/office/drawing/2014/main" id="{E65CF0F6-0B7A-4988-8ADE-21DD953C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720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HOT POLL</a:t>
            </a:r>
          </a:p>
        </p:txBody>
      </p:sp>
      <p:sp>
        <p:nvSpPr>
          <p:cNvPr id="23" name="poll-cpu-config-table-r0-c1">
            <a:extLst xmlns:a="http://schemas.openxmlformats.org/drawingml/2006/main">
              <a:ext uri="{FF2B5EF4-FFF2-40B4-BE49-F238E27FC236}">
                <a16:creationId xmlns:a16="http://schemas.microsoft.com/office/drawing/2014/main" id="{6DB1FA97-5C9F-4E7B-A744-892DF0BF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720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98.67 µs</a:t>
            </a:r>
          </a:p>
        </p:txBody>
      </p:sp>
      <p:sp>
        <p:nvSpPr>
          <p:cNvPr id="24" name="poll-cpu-config-table-r0-c2">
            <a:extLst xmlns:a="http://schemas.openxmlformats.org/drawingml/2006/main">
              <a:ext uri="{FF2B5EF4-FFF2-40B4-BE49-F238E27FC236}">
                <a16:creationId xmlns:a16="http://schemas.microsoft.com/office/drawing/2014/main" id="{59F183AE-5627-4BC5-9873-97A7B689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5720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100.25%</a:t>
            </a:r>
          </a:p>
        </p:txBody>
      </p:sp>
      <p:sp>
        <p:nvSpPr>
          <p:cNvPr id="25" name="poll-cpu-config-table-r0-c3">
            <a:extLst xmlns:a="http://schemas.openxmlformats.org/drawingml/2006/main">
              <a:ext uri="{FF2B5EF4-FFF2-40B4-BE49-F238E27FC236}">
                <a16:creationId xmlns:a16="http://schemas.microsoft.com/office/drawing/2014/main" id="{53EC1A00-885F-4B51-A8A5-D27C6287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5720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97.75%</a:t>
            </a:r>
          </a:p>
        </p:txBody>
      </p:sp>
      <p:sp>
        <p:nvSpPr>
          <p:cNvPr id="26" name="poll-cpu-config-table-row-1">
            <a:extLst xmlns:a="http://schemas.openxmlformats.org/drawingml/2006/main">
              <a:ext uri="{FF2B5EF4-FFF2-40B4-BE49-F238E27FC236}">
                <a16:creationId xmlns:a16="http://schemas.microsoft.com/office/drawing/2014/main" id="{55FB4DD5-2BB0-4620-9491-B4A97648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poll-cpu-config-table-r1-c0">
            <a:extLst xmlns:a="http://schemas.openxmlformats.org/drawingml/2006/main">
              <a:ext uri="{FF2B5EF4-FFF2-40B4-BE49-F238E27FC236}">
                <a16:creationId xmlns:a16="http://schemas.microsoft.com/office/drawing/2014/main" id="{7A8D6332-620D-4097-8098-29DF4B29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8577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TCP Socket</a:t>
            </a:r>
          </a:p>
        </p:txBody>
      </p:sp>
      <p:sp>
        <p:nvSpPr>
          <p:cNvPr id="28" name="poll-cpu-config-table-r1-c1">
            <a:extLst xmlns:a="http://schemas.openxmlformats.org/drawingml/2006/main">
              <a:ext uri="{FF2B5EF4-FFF2-40B4-BE49-F238E27FC236}">
                <a16:creationId xmlns:a16="http://schemas.microsoft.com/office/drawing/2014/main" id="{6C499A07-2E25-480C-AFBA-44774FC2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85775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99.65 µs</a:t>
            </a:r>
          </a:p>
        </p:txBody>
      </p:sp>
      <p:sp>
        <p:nvSpPr>
          <p:cNvPr id="29" name="poll-cpu-config-table-r1-c2">
            <a:extLst xmlns:a="http://schemas.openxmlformats.org/drawingml/2006/main">
              <a:ext uri="{FF2B5EF4-FFF2-40B4-BE49-F238E27FC236}">
                <a16:creationId xmlns:a16="http://schemas.microsoft.com/office/drawing/2014/main" id="{FCC25E50-7E42-4E4D-83B9-118D832A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8577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1.19%</a:t>
            </a:r>
          </a:p>
        </p:txBody>
      </p:sp>
      <p:sp>
        <p:nvSpPr>
          <p:cNvPr id="30" name="poll-cpu-config-table-r1-c3">
            <a:extLst xmlns:a="http://schemas.openxmlformats.org/drawingml/2006/main">
              <a:ext uri="{FF2B5EF4-FFF2-40B4-BE49-F238E27FC236}">
                <a16:creationId xmlns:a16="http://schemas.microsoft.com/office/drawing/2014/main" id="{38B2FC41-2254-42CA-B691-51BFF9D4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577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0.72%</a:t>
            </a:r>
          </a:p>
        </p:txBody>
      </p:sp>
      <p:sp>
        <p:nvSpPr>
          <p:cNvPr id="31" name="poll-cpu-config-table-row-2">
            <a:extLst xmlns:a="http://schemas.openxmlformats.org/drawingml/2006/main">
              <a:ext uri="{FF2B5EF4-FFF2-40B4-BE49-F238E27FC236}">
                <a16:creationId xmlns:a16="http://schemas.microsoft.com/office/drawing/2014/main" id="{32392391-DE9B-4329-91E7-D5B37573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poll-cpu-config-table-r2-c0">
            <a:extLst xmlns:a="http://schemas.openxmlformats.org/drawingml/2006/main">
              <a:ext uri="{FF2B5EF4-FFF2-40B4-BE49-F238E27FC236}">
                <a16:creationId xmlns:a16="http://schemas.microsoft.com/office/drawing/2014/main" id="{C2DB7A53-92FC-4DC7-A0E3-0434D5D9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43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BUD=0 / 10 µs</a:t>
            </a:r>
          </a:p>
        </p:txBody>
      </p:sp>
      <p:sp>
        <p:nvSpPr>
          <p:cNvPr id="33" name="poll-cpu-config-table-r2-c1">
            <a:extLst xmlns:a="http://schemas.openxmlformats.org/drawingml/2006/main">
              <a:ext uri="{FF2B5EF4-FFF2-40B4-BE49-F238E27FC236}">
                <a16:creationId xmlns:a16="http://schemas.microsoft.com/office/drawing/2014/main" id="{61F7BE3C-F8C6-4068-900D-C83D50A0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1435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99.13 µs</a:t>
            </a:r>
          </a:p>
        </p:txBody>
      </p:sp>
      <p:sp>
        <p:nvSpPr>
          <p:cNvPr id="34" name="poll-cpu-config-table-r2-c2">
            <a:extLst xmlns:a="http://schemas.openxmlformats.org/drawingml/2006/main">
              <a:ext uri="{FF2B5EF4-FFF2-40B4-BE49-F238E27FC236}">
                <a16:creationId xmlns:a16="http://schemas.microsoft.com/office/drawing/2014/main" id="{0CD94B16-D5F0-4DB4-855B-BC4D9A72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435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13.55%</a:t>
            </a:r>
          </a:p>
        </p:txBody>
      </p:sp>
      <p:sp>
        <p:nvSpPr>
          <p:cNvPr id="35" name="poll-cpu-config-table-r2-c3">
            <a:extLst xmlns:a="http://schemas.openxmlformats.org/drawingml/2006/main">
              <a:ext uri="{FF2B5EF4-FFF2-40B4-BE49-F238E27FC236}">
                <a16:creationId xmlns:a16="http://schemas.microsoft.com/office/drawing/2014/main" id="{0D5C82C8-6B48-47E8-B354-CE87445E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1435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13.29%</a:t>
            </a:r>
          </a:p>
        </p:txBody>
      </p:sp>
      <p:sp>
        <p:nvSpPr>
          <p:cNvPr id="36" name="poll-cpu-config-table-row-3">
            <a:extLst xmlns:a="http://schemas.openxmlformats.org/drawingml/2006/main">
              <a:ext uri="{FF2B5EF4-FFF2-40B4-BE49-F238E27FC236}">
                <a16:creationId xmlns:a16="http://schemas.microsoft.com/office/drawing/2014/main" id="{4AFCA87A-3309-49D7-AD1E-B90F49F6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poll-cpu-config-table-r3-c0">
            <a:extLst xmlns:a="http://schemas.openxmlformats.org/drawingml/2006/main">
              <a:ext uri="{FF2B5EF4-FFF2-40B4-BE49-F238E27FC236}">
                <a16:creationId xmlns:a16="http://schemas.microsoft.com/office/drawing/2014/main" id="{480B8A28-F484-42BE-ADFC-14C2234D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292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BUD=1024 / 10 µs</a:t>
            </a:r>
          </a:p>
        </p:txBody>
      </p:sp>
      <p:sp>
        <p:nvSpPr>
          <p:cNvPr id="38" name="poll-cpu-config-table-r3-c1">
            <a:extLst xmlns:a="http://schemas.openxmlformats.org/drawingml/2006/main">
              <a:ext uri="{FF2B5EF4-FFF2-40B4-BE49-F238E27FC236}">
                <a16:creationId xmlns:a16="http://schemas.microsoft.com/office/drawing/2014/main" id="{824EB430-405E-47AC-8CF2-7DA6A617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42925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98.69 µs</a:t>
            </a:r>
          </a:p>
        </p:txBody>
      </p:sp>
      <p:sp>
        <p:nvSpPr>
          <p:cNvPr id="39" name="poll-cpu-config-table-r3-c2">
            <a:extLst xmlns:a="http://schemas.openxmlformats.org/drawingml/2006/main">
              <a:ext uri="{FF2B5EF4-FFF2-40B4-BE49-F238E27FC236}">
                <a16:creationId xmlns:a16="http://schemas.microsoft.com/office/drawing/2014/main" id="{CFB96067-FB82-4D8A-8DAD-12323CE7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292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97.81%</a:t>
            </a:r>
          </a:p>
        </p:txBody>
      </p:sp>
      <p:sp>
        <p:nvSpPr>
          <p:cNvPr id="40" name="poll-cpu-config-table-r3-c3">
            <a:extLst xmlns:a="http://schemas.openxmlformats.org/drawingml/2006/main">
              <a:ext uri="{FF2B5EF4-FFF2-40B4-BE49-F238E27FC236}">
                <a16:creationId xmlns:a16="http://schemas.microsoft.com/office/drawing/2014/main" id="{6665581D-9115-479B-A12E-5998BB16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4292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93.90%</a:t>
            </a:r>
          </a:p>
        </p:txBody>
      </p:sp>
      <p:sp>
        <p:nvSpPr>
          <p:cNvPr id="41" name="poll-cpu-config-table-row-4">
            <a:extLst xmlns:a="http://schemas.openxmlformats.org/drawingml/2006/main">
              <a:ext uri="{FF2B5EF4-FFF2-40B4-BE49-F238E27FC236}">
                <a16:creationId xmlns:a16="http://schemas.microsoft.com/office/drawing/2014/main" id="{6AA8C0BB-66F3-441D-A9D2-F8868D5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poll-cpu-config-table-r4-c0">
            <a:extLst xmlns:a="http://schemas.openxmlformats.org/drawingml/2006/main">
              <a:ext uri="{FF2B5EF4-FFF2-40B4-BE49-F238E27FC236}">
                <a16:creationId xmlns:a16="http://schemas.microsoft.com/office/drawing/2014/main" id="{2BA6BC52-413C-4053-AEB5-BA5F2130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150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BUD=0 / 1 ms</a:t>
            </a:r>
          </a:p>
        </p:txBody>
      </p:sp>
      <p:sp>
        <p:nvSpPr>
          <p:cNvPr id="43" name="poll-cpu-config-table-r4-c1">
            <a:extLst xmlns:a="http://schemas.openxmlformats.org/drawingml/2006/main">
              <a:ext uri="{FF2B5EF4-FFF2-40B4-BE49-F238E27FC236}">
                <a16:creationId xmlns:a16="http://schemas.microsoft.com/office/drawing/2014/main" id="{CB38EDE7-A85C-48D4-9EDC-B354084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7150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1.888 ms</a:t>
            </a:r>
          </a:p>
        </p:txBody>
      </p:sp>
      <p:sp>
        <p:nvSpPr>
          <p:cNvPr id="44" name="poll-cpu-config-table-r4-c2">
            <a:extLst xmlns:a="http://schemas.openxmlformats.org/drawingml/2006/main">
              <a:ext uri="{FF2B5EF4-FFF2-40B4-BE49-F238E27FC236}">
                <a16:creationId xmlns:a16="http://schemas.microsoft.com/office/drawing/2014/main" id="{4A7E1A62-E461-4FD9-9A15-E5CBAC20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7150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1.13%</a:t>
            </a:r>
          </a:p>
        </p:txBody>
      </p:sp>
      <p:sp>
        <p:nvSpPr>
          <p:cNvPr id="45" name="poll-cpu-config-table-r4-c3">
            <a:extLst xmlns:a="http://schemas.openxmlformats.org/drawingml/2006/main">
              <a:ext uri="{FF2B5EF4-FFF2-40B4-BE49-F238E27FC236}">
                <a16:creationId xmlns:a16="http://schemas.microsoft.com/office/drawing/2014/main" id="{BFC5A988-4A28-47BA-A29E-F2AE10B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7150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0.70%</a:t>
            </a:r>
          </a:p>
        </p:txBody>
      </p:sp>
      <p:sp>
        <p:nvSpPr>
          <p:cNvPr id="46" name="poll-cpu-result-bg">
            <a:extLst xmlns:a="http://schemas.openxmlformats.org/drawingml/2006/main">
              <a:ext uri="{FF2B5EF4-FFF2-40B4-BE49-F238E27FC236}">
                <a16:creationId xmlns:a16="http://schemas.microsoft.com/office/drawing/2014/main" id="{E52E29CD-027E-43CA-A903-7DA9EB2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57850"/>
            <a:ext cx="550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7" name="poll-cpu-result-text">
            <a:extLst xmlns:a="http://schemas.openxmlformats.org/drawingml/2006/main">
              <a:ext uri="{FF2B5EF4-FFF2-40B4-BE49-F238E27FC236}">
                <a16:creationId xmlns:a16="http://schemas.microsoft.com/office/drawing/2014/main" id="{28109214-8CCE-47C0-ACCD-C3CABD7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43575"/>
            <a:ext cx="5238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本次 sweep 中，SLEEP 档位对应主要 latency 区间，BUD 改变相同 SLEEP 下的 CPU 占用；不外推为跨机器默认值。</a:t>
            </a:r>
          </a:p>
        </p:txBody>
      </p:sp>
    </p:spTree>
    <p:extLst>
      <p:ext uri="{BB962C8B-B14F-4D97-AF65-F5344CB8AC3E}">
        <p14:creationId xmlns:p14="http://schemas.microsoft.com/office/powerpoint/2010/main" val="1884094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2026-07-22T06:39:48.1170000Z</dcterms:created>
  <dcterms:modified xsi:type="dcterms:W3CDTF">2026-07-22T06:39:48.1170000Z</dcterms:modified>
</coreProperties>
</file>