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7bf06049cf9488a" /><Relationship Type="http://schemas.openxmlformats.org/officeDocument/2006/relationships/extended-properties" Target="/docProps/app.xml" Id="R09ba9b3a7c71460f" /><Relationship Type="http://schemas.openxmlformats.org/officeDocument/2006/relationships/officeDocument" Target="/ppt/presentation.xml" Id="R987ab59b079b4b9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64085dc39084b20"/>
  </p:sldMasterIdLst>
  <p:notesMasterIdLst>
    <p:notesMasterId xmlns:r="http://schemas.openxmlformats.org/officeDocument/2006/relationships" r:id="Re7696d0aff5a4a9d"/>
  </p:notesMasterIdLst>
  <p:sldIdLst>
    <p:sldId xmlns:r="http://schemas.openxmlformats.org/officeDocument/2006/relationships" id="256" r:id="R9a5d5f09112a409f"/>
    <p:sldId xmlns:r="http://schemas.openxmlformats.org/officeDocument/2006/relationships" id="257" r:id="R0f7d23eaa8b0449e"/>
    <p:sldId xmlns:r="http://schemas.openxmlformats.org/officeDocument/2006/relationships" id="258" r:id="R8297050b0be246c9"/>
    <p:sldId xmlns:r="http://schemas.openxmlformats.org/officeDocument/2006/relationships" id="259" r:id="R9d470464aa9e4eeb"/>
    <p:sldId xmlns:r="http://schemas.openxmlformats.org/officeDocument/2006/relationships" id="260" r:id="Rfd025a08ca014e5b"/>
    <p:sldId xmlns:r="http://schemas.openxmlformats.org/officeDocument/2006/relationships" id="261" r:id="Recc5cdd5de5e4b13"/>
    <p:sldId xmlns:r="http://schemas.openxmlformats.org/officeDocument/2006/relationships" id="262" r:id="R1afd954062c74924"/>
    <p:sldId xmlns:r="http://schemas.openxmlformats.org/officeDocument/2006/relationships" id="263" r:id="Ra800c90a70dd45b4"/>
    <p:sldId xmlns:r="http://schemas.openxmlformats.org/officeDocument/2006/relationships" id="264" r:id="R8c3798375a754a2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70faff255d34b02" /><Relationship Type="http://schemas.openxmlformats.org/officeDocument/2006/relationships/slideMaster" Target="/ppt/slideMasters/slideMaster1.xml" Id="Rb64085dc39084b20" /><Relationship Type="http://schemas.openxmlformats.org/officeDocument/2006/relationships/notesMaster" Target="/ppt/notesMasters/notesMaster1.xml" Id="Re7696d0aff5a4a9d" /><Relationship Type="http://schemas.openxmlformats.org/officeDocument/2006/relationships/presProps" Target="/ppt/presProps.xml" Id="R1aabb3ad44e64fc6" /><Relationship Type="http://schemas.openxmlformats.org/officeDocument/2006/relationships/tableStyles" Target="/ppt/tableStyles.xml" Id="R609b92f073624f8d" /><Relationship Type="http://schemas.openxmlformats.org/officeDocument/2006/relationships/slide" Target="/ppt/slides/slide1.xml" Id="R9a5d5f09112a409f" /><Relationship Type="http://schemas.openxmlformats.org/officeDocument/2006/relationships/slide" Target="/ppt/slides/slide2.xml" Id="R0f7d23eaa8b0449e" /><Relationship Type="http://schemas.openxmlformats.org/officeDocument/2006/relationships/slide" Target="/ppt/slides/slide3.xml" Id="R8297050b0be246c9" /><Relationship Type="http://schemas.openxmlformats.org/officeDocument/2006/relationships/slide" Target="/ppt/slides/slide4.xml" Id="R9d470464aa9e4eeb" /><Relationship Type="http://schemas.openxmlformats.org/officeDocument/2006/relationships/slide" Target="/ppt/slides/slide5.xml" Id="Rfd025a08ca014e5b" /><Relationship Type="http://schemas.openxmlformats.org/officeDocument/2006/relationships/slide" Target="/ppt/slides/slide6.xml" Id="Recc5cdd5de5e4b13" /><Relationship Type="http://schemas.openxmlformats.org/officeDocument/2006/relationships/slide" Target="/ppt/slides/slide7.xml" Id="R1afd954062c74924" /><Relationship Type="http://schemas.openxmlformats.org/officeDocument/2006/relationships/slide" Target="/ppt/slides/slide8.xml" Id="Ra800c90a70dd45b4" /><Relationship Type="http://schemas.openxmlformats.org/officeDocument/2006/relationships/slide" Target="/ppt/slides/slide9.xml" Id="R8c3798375a754a2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1a781b5bade443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44895280cd64533" /><Relationship Type="http://schemas.openxmlformats.org/officeDocument/2006/relationships/notesMaster" Target="/ppt/notesMasters/notesMaster1.xml" Id="Rb755723aaca549e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7ccc0b74a4c4401" /><Relationship Type="http://schemas.openxmlformats.org/officeDocument/2006/relationships/notesMaster" Target="/ppt/notesMasters/notesMaster1.xml" Id="R12206b61a31546a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b1a8bd090224c59" /><Relationship Type="http://schemas.openxmlformats.org/officeDocument/2006/relationships/notesMaster" Target="/ppt/notesMasters/notesMaster1.xml" Id="R5f1c75a245b24e9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ef63c847d4640a8" /><Relationship Type="http://schemas.openxmlformats.org/officeDocument/2006/relationships/notesMaster" Target="/ppt/notesMasters/notesMaster1.xml" Id="Ra9342b74af094d5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53f20e0114443fb" /><Relationship Type="http://schemas.openxmlformats.org/officeDocument/2006/relationships/notesMaster" Target="/ppt/notesMasters/notesMaster1.xml" Id="Rf01191d9dc5f4a9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daf70d88a9e404a" /><Relationship Type="http://schemas.openxmlformats.org/officeDocument/2006/relationships/notesMaster" Target="/ppt/notesMasters/notesMaster1.xml" Id="R3dff61a640464a6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7472a9372b84ae5" /><Relationship Type="http://schemas.openxmlformats.org/officeDocument/2006/relationships/notesMaster" Target="/ppt/notesMasters/notesMaster1.xml" Id="Re51a680a7cb94b9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b828a30486147a9" /><Relationship Type="http://schemas.openxmlformats.org/officeDocument/2006/relationships/notesMaster" Target="/ppt/notesMasters/notesMaster1.xml" Id="R33548591930e4ed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43b4e89e3384345" /><Relationship Type="http://schemas.openxmlformats.org/officeDocument/2006/relationships/notesMaster" Target="/ppt/notesMasters/notesMaster1.xml" Id="R07f8ce32bc124bf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86babe35c3455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c8c94d94b4a48b1" /><Relationship Type="http://schemas.openxmlformats.org/officeDocument/2006/relationships/slideLayout" Target="/ppt/slideLayouts/slideLayout1.xml" Id="R4a89b4ec779743a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a89b4ec779743a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9e428a0dd14498" /><Relationship Type="http://schemas.openxmlformats.org/officeDocument/2006/relationships/notesSlide" Target="/ppt/notesSlides/notesSlide1.xml" Id="R682366e2ac8a4cc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ee4b3158914742" /><Relationship Type="http://schemas.openxmlformats.org/officeDocument/2006/relationships/notesSlide" Target="/ppt/notesSlides/notesSlide2.xml" Id="R8bddbb94633d46a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0c25ce120a4131" /><Relationship Type="http://schemas.openxmlformats.org/officeDocument/2006/relationships/notesSlide" Target="/ppt/notesSlides/notesSlide3.xml" Id="R536cd0e2049d4e3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6bb6b0f3cd486a" /><Relationship Type="http://schemas.openxmlformats.org/officeDocument/2006/relationships/image" Target="/ppt/media/image.png" Id="Rfca72eea85a74c87" /><Relationship Type="http://schemas.openxmlformats.org/officeDocument/2006/relationships/notesSlide" Target="/ppt/notesSlides/notesSlide4.xml" Id="Rb3dd79832ac442b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40c824063d4554" /><Relationship Type="http://schemas.openxmlformats.org/officeDocument/2006/relationships/image" Target="/ppt/media/image2.png" Id="Rf72fe3caf157451d" /><Relationship Type="http://schemas.openxmlformats.org/officeDocument/2006/relationships/notesSlide" Target="/ppt/notesSlides/notesSlide5.xml" Id="R651d6c71fc52482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da533b5610458a" /><Relationship Type="http://schemas.openxmlformats.org/officeDocument/2006/relationships/image" Target="/ppt/media/image3.png" Id="R2ea60a627b444d3b" /><Relationship Type="http://schemas.openxmlformats.org/officeDocument/2006/relationships/notesSlide" Target="/ppt/notesSlides/notesSlide6.xml" Id="R3bca583b484e4b2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17261e5b174d33" /><Relationship Type="http://schemas.openxmlformats.org/officeDocument/2006/relationships/image" Target="/ppt/media/image4.png" Id="R9d687a4f6dd14e2f" /><Relationship Type="http://schemas.openxmlformats.org/officeDocument/2006/relationships/notesSlide" Target="/ppt/notesSlides/notesSlide7.xml" Id="R47dc884ea0da489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cb19ea05a44222" /><Relationship Type="http://schemas.openxmlformats.org/officeDocument/2006/relationships/notesSlide" Target="/ppt/notesSlides/notesSlide8.xml" Id="R812d5ee79b6242b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9083a8b9bf4549" /><Relationship Type="http://schemas.openxmlformats.org/officeDocument/2006/relationships/notesSlide" Target="/ppt/notesSlides/notesSlide9.xml" Id="R402e4fbc1c84471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4D470836-81B6-4BA8-BDD1-55E919E9A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10668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70844E75-957D-4CFE-92E5-1D34F697A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7620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5C6673"/>
                </a:solidFill>
                <a:latin typeface="PingFang SC"/>
                <a:ea typeface="PingFang SC"/>
                <a:cs typeface="PingFang SC"/>
              </a:defRPr>
            </a:pPr>
            <a:r>
              <a:t>RPC polling policy study</a:t>
            </a:r>
          </a:p>
        </p:txBody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315A2865-83E0-404D-88E8-7FF887CD9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10572750" cy="2000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Poll-idle：CPU 与
尾延迟取舍</a:t>
            </a:r>
          </a:p>
        </p:txBody>
      </p:sp>
      <p:sp>
        <p:nvSpPr>
          <p:cNvPr id="4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5C7B0612-B2CA-4C9D-B7DC-587A8482D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76750"/>
            <a:ext cx="9525000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5C6673"/>
                </a:solidFill>
                <a:latin typeface="PingFang SC"/>
                <a:ea typeface="PingFang SC"/>
                <a:cs typeface="PingFang SC"/>
              </a:defRPr>
            </a:pPr>
            <a:r>
              <a:t>Poisson 350 QPS · 64 B echo · BUD × SLEEP sensitivity sweep</a:t>
            </a:r>
          </a:p>
        </p:txBody>
      </p:sp>
      <p:sp>
        <p:nvSpPr>
          <p:cNvPr id="5" name="cover-footer-rule">
            <a:extLst xmlns:a="http://schemas.openxmlformats.org/drawingml/2006/main">
              <a:ext uri="{FF2B5EF4-FFF2-40B4-BE49-F238E27FC236}">
                <a16:creationId xmlns:a16="http://schemas.microsoft.com/office/drawing/2014/main" id="{555A48BD-5F25-4C79-9A40-6351F0D2C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531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6" name="cover-footer">
            <a:extLst xmlns:a="http://schemas.openxmlformats.org/drawingml/2006/main">
              <a:ext uri="{FF2B5EF4-FFF2-40B4-BE49-F238E27FC236}">
                <a16:creationId xmlns:a16="http://schemas.microsoft.com/office/drawing/2014/main" id="{1D011E12-80DA-4B06-9875-4C2E61E82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24600"/>
            <a:ext cx="113919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673"/>
                </a:solidFill>
                <a:latin typeface="PingFang SC"/>
                <a:ea typeface="PingFang SC"/>
                <a:cs typeface="PingFang SC"/>
              </a:defRPr>
            </a:pPr>
            <a:r>
              <a:t>基于 poll_idle_poisson_350qps 报告与全部结论图 · 2026-07-22</a:t>
            </a:r>
          </a:p>
        </p:txBody>
      </p:sp>
    </p:spTree>
    <p:extLst>
      <p:ext uri="{BB962C8B-B14F-4D97-AF65-F5344CB8AC3E}">
        <p14:creationId xmlns:p14="http://schemas.microsoft.com/office/powerpoint/2010/main" val="102259287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accent-2">
            <a:extLst xmlns:a="http://schemas.openxmlformats.org/drawingml/2006/main">
              <a:ext uri="{FF2B5EF4-FFF2-40B4-BE49-F238E27FC236}">
                <a16:creationId xmlns:a16="http://schemas.microsoft.com/office/drawing/2014/main" id="{2AB2AF1B-9C7F-46B2-90F1-480F71F31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7810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0BC66992-C5D4-4FA2-8D42-47BCD18C3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11391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BUD=0 / SLEEP=10 µs 是当前低负载的 knee</a:t>
            </a:r>
          </a:p>
        </p:txBody>
      </p:sp>
      <p:sp>
        <p:nvSpPr>
          <p:cNvPr id="3" name="footer-rule-2">
            <a:extLst xmlns:a="http://schemas.openxmlformats.org/drawingml/2006/main">
              <a:ext uri="{FF2B5EF4-FFF2-40B4-BE49-F238E27FC236}">
                <a16:creationId xmlns:a16="http://schemas.microsoft.com/office/drawing/2014/main" id="{316A6D77-1631-439E-81ED-00CC68B42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source-2">
            <a:extLst xmlns:a="http://schemas.openxmlformats.org/drawingml/2006/main">
              <a:ext uri="{FF2B5EF4-FFF2-40B4-BE49-F238E27FC236}">
                <a16:creationId xmlns:a16="http://schemas.microsoft.com/office/drawing/2014/main" id="{4D95118E-F55C-4F0A-B75D-E05442237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9906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673"/>
                </a:solidFill>
                <a:latin typeface="PingFang SC"/>
                <a:ea typeface="PingFang SC"/>
                <a:cs typeface="PingFang SC"/>
              </a:defRPr>
            </a:pPr>
            <a:r>
              <a:t>Source: poll_idle_poisson_350qps/README.md · 350 QPS single-run sweep</a:t>
            </a:r>
          </a:p>
        </p:txBody>
      </p:sp>
      <p:sp>
        <p:nvSpPr>
          <p:cNvPr id="5" name="page-2">
            <a:extLst xmlns:a="http://schemas.openxmlformats.org/drawingml/2006/main">
              <a:ext uri="{FF2B5EF4-FFF2-40B4-BE49-F238E27FC236}">
                <a16:creationId xmlns:a16="http://schemas.microsoft.com/office/drawing/2014/main" id="{D1AA0C8E-9F6B-4929-BEB0-1EE8D25B3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19850"/>
            <a:ext cx="609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C6673"/>
                </a:solidFill>
                <a:latin typeface="PingFang SC"/>
                <a:ea typeface="PingFang SC"/>
                <a:cs typeface="PingFang SC"/>
              </a:defRPr>
            </a:pPr>
            <a:r>
              <a:t>02</a:t>
            </a:r>
          </a:p>
        </p:txBody>
      </p:sp>
      <p:sp>
        <p:nvSpPr>
          <p:cNvPr id="6" name="intro-2">
            <a:extLst xmlns:a="http://schemas.openxmlformats.org/drawingml/2006/main">
              <a:ext uri="{FF2B5EF4-FFF2-40B4-BE49-F238E27FC236}">
                <a16:creationId xmlns:a16="http://schemas.microsoft.com/office/drawing/2014/main" id="{C68E5143-7CB0-4121-BCA2-AD8D72BE7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9190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C6673"/>
                </a:solidFill>
                <a:latin typeface="PingFang SC"/>
                <a:ea typeface="PingFang SC"/>
                <a:cs typeface="PingFang SC"/>
              </a:defRPr>
            </a:pPr>
            <a:r>
              <a:t>相对 HOT POLL，这个点大幅降低 client/server CPU，同时把 p99 保持在约 100 µs 的同一延迟带。</a:t>
            </a:r>
          </a:p>
        </p:txBody>
      </p:sp>
      <p:sp>
        <p:nvSpPr>
          <p:cNvPr id="7" name="stat-panel-2-0">
            <a:extLst xmlns:a="http://schemas.openxmlformats.org/drawingml/2006/main">
              <a:ext uri="{FF2B5EF4-FFF2-40B4-BE49-F238E27FC236}">
                <a16:creationId xmlns:a16="http://schemas.microsoft.com/office/drawing/2014/main" id="{E37B269A-DE89-4508-A207-3C360E367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00300"/>
            <a:ext cx="3562350" cy="2914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8" name="stat-2-0">
            <a:extLst xmlns:a="http://schemas.openxmlformats.org/drawingml/2006/main">
              <a:ext uri="{FF2B5EF4-FFF2-40B4-BE49-F238E27FC236}">
                <a16:creationId xmlns:a16="http://schemas.microsoft.com/office/drawing/2014/main" id="{CEA692BA-BDB7-4409-B954-5028F2348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302895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t>−86.5%</a:t>
            </a:r>
          </a:p>
        </p:txBody>
      </p:sp>
      <p:sp>
        <p:nvSpPr>
          <p:cNvPr id="9" name="stat-label-2-0">
            <a:extLst xmlns:a="http://schemas.openxmlformats.org/drawingml/2006/main">
              <a:ext uri="{FF2B5EF4-FFF2-40B4-BE49-F238E27FC236}">
                <a16:creationId xmlns:a16="http://schemas.microsoft.com/office/drawing/2014/main" id="{77A33629-496D-4582-BB14-A36D6F2DC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3028950" cy="102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Client CPU：100.25% → 13.55%。</a:t>
            </a:r>
          </a:p>
        </p:txBody>
      </p:sp>
      <p:sp>
        <p:nvSpPr>
          <p:cNvPr id="10" name="stat-panel-2-1">
            <a:extLst xmlns:a="http://schemas.openxmlformats.org/drawingml/2006/main">
              <a:ext uri="{FF2B5EF4-FFF2-40B4-BE49-F238E27FC236}">
                <a16:creationId xmlns:a16="http://schemas.microsoft.com/office/drawing/2014/main" id="{F40E9094-9433-4E12-A537-A6D38BE9B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400300"/>
            <a:ext cx="3562350" cy="2914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11" name="stat-2-1">
            <a:extLst xmlns:a="http://schemas.openxmlformats.org/drawingml/2006/main">
              <a:ext uri="{FF2B5EF4-FFF2-40B4-BE49-F238E27FC236}">
                <a16:creationId xmlns:a16="http://schemas.microsoft.com/office/drawing/2014/main" id="{BDAC5E7B-4F40-496A-8259-63920688D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857500"/>
            <a:ext cx="302895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t>−86.4%</a:t>
            </a:r>
          </a:p>
        </p:txBody>
      </p:sp>
      <p:sp>
        <p:nvSpPr>
          <p:cNvPr id="12" name="stat-label-2-1">
            <a:extLst xmlns:a="http://schemas.openxmlformats.org/drawingml/2006/main">
              <a:ext uri="{FF2B5EF4-FFF2-40B4-BE49-F238E27FC236}">
                <a16:creationId xmlns:a16="http://schemas.microsoft.com/office/drawing/2014/main" id="{D086A07B-D99D-408D-8E69-407E5AF3F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943350"/>
            <a:ext cx="3028950" cy="102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Server CPU：97.75% → 13.29%。</a:t>
            </a:r>
          </a:p>
        </p:txBody>
      </p:sp>
      <p:sp>
        <p:nvSpPr>
          <p:cNvPr id="13" name="stat-panel-2-2">
            <a:extLst xmlns:a="http://schemas.openxmlformats.org/drawingml/2006/main">
              <a:ext uri="{FF2B5EF4-FFF2-40B4-BE49-F238E27FC236}">
                <a16:creationId xmlns:a16="http://schemas.microsoft.com/office/drawing/2014/main" id="{55CCD129-F9EB-4AE5-B6C7-A681DDB5C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400300"/>
            <a:ext cx="3562350" cy="2914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14" name="stat-2-2">
            <a:extLst xmlns:a="http://schemas.openxmlformats.org/drawingml/2006/main">
              <a:ext uri="{FF2B5EF4-FFF2-40B4-BE49-F238E27FC236}">
                <a16:creationId xmlns:a16="http://schemas.microsoft.com/office/drawing/2014/main" id="{D4E5AA43-79EC-4965-950F-7E60A956B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857500"/>
            <a:ext cx="302895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t>+0.46 µs</a:t>
            </a:r>
          </a:p>
        </p:txBody>
      </p:sp>
      <p:sp>
        <p:nvSpPr>
          <p:cNvPr id="15" name="stat-label-2-2">
            <a:extLst xmlns:a="http://schemas.openxmlformats.org/drawingml/2006/main">
              <a:ext uri="{FF2B5EF4-FFF2-40B4-BE49-F238E27FC236}">
                <a16:creationId xmlns:a16="http://schemas.microsoft.com/office/drawing/2014/main" id="{3234481E-F30D-4A80-8BB4-699A5C1C7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943350"/>
            <a:ext cx="3028950" cy="102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p99：98.67 µs → 99.13 µs。</a:t>
            </a:r>
          </a:p>
        </p:txBody>
      </p:sp>
      <p:sp>
        <p:nvSpPr>
          <p:cNvPr id="16" name="note-2">
            <a:extLst xmlns:a="http://schemas.openxmlformats.org/drawingml/2006/main">
              <a:ext uri="{FF2B5EF4-FFF2-40B4-BE49-F238E27FC236}">
                <a16:creationId xmlns:a16="http://schemas.microsoft.com/office/drawing/2014/main" id="{20BEED41-3950-43DD-A1D6-34B92F0D0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72125"/>
            <a:ext cx="113919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C6673"/>
                </a:solidFill>
                <a:latin typeface="PingFang SC"/>
                <a:ea typeface="PingFang SC"/>
                <a:cs typeface="PingFang SC"/>
              </a:defRPr>
            </a:pPr>
            <a:r>
              <a:t>这是单次 15 秒、5285 请求的候选点，不是跨机器默认参数。</a:t>
            </a:r>
          </a:p>
        </p:txBody>
      </p:sp>
    </p:spTree>
    <p:extLst>
      <p:ext uri="{BB962C8B-B14F-4D97-AF65-F5344CB8AC3E}">
        <p14:creationId xmlns:p14="http://schemas.microsoft.com/office/powerpoint/2010/main" val="210619220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accent-3">
            <a:extLst xmlns:a="http://schemas.openxmlformats.org/drawingml/2006/main">
              <a:ext uri="{FF2B5EF4-FFF2-40B4-BE49-F238E27FC236}">
                <a16:creationId xmlns:a16="http://schemas.microsoft.com/office/drawing/2014/main" id="{3AAC8EF1-8842-485B-93E8-E453E8ED5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7810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0488CDC7-B181-4DD4-9A85-141F958CF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11391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矩阵只改变 BUD 与 SLEEP，比较 CPU–latency 取舍</a:t>
            </a:r>
          </a:p>
        </p:txBody>
      </p:sp>
      <p:sp>
        <p:nvSpPr>
          <p:cNvPr id="3" name="footer-rule-3">
            <a:extLst xmlns:a="http://schemas.openxmlformats.org/drawingml/2006/main">
              <a:ext uri="{FF2B5EF4-FFF2-40B4-BE49-F238E27FC236}">
                <a16:creationId xmlns:a16="http://schemas.microsoft.com/office/drawing/2014/main" id="{50BC13CE-10B5-4809-8C3E-EE25A27FC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source-3">
            <a:extLst xmlns:a="http://schemas.openxmlformats.org/drawingml/2006/main">
              <a:ext uri="{FF2B5EF4-FFF2-40B4-BE49-F238E27FC236}">
                <a16:creationId xmlns:a16="http://schemas.microsoft.com/office/drawing/2014/main" id="{C6495F55-B2E8-4DC9-B486-154FEF2E3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9906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673"/>
                </a:solidFill>
                <a:latin typeface="PingFang SC"/>
                <a:ea typeface="PingFang SC"/>
                <a:cs typeface="PingFang SC"/>
              </a:defRPr>
            </a:pPr>
            <a:r>
              <a:t>Source: poll_idle_poisson_350qps/README.md · 350 QPS single-run sweep</a:t>
            </a:r>
          </a:p>
        </p:txBody>
      </p:sp>
      <p:sp>
        <p:nvSpPr>
          <p:cNvPr id="5" name="page-3">
            <a:extLst xmlns:a="http://schemas.openxmlformats.org/drawingml/2006/main">
              <a:ext uri="{FF2B5EF4-FFF2-40B4-BE49-F238E27FC236}">
                <a16:creationId xmlns:a16="http://schemas.microsoft.com/office/drawing/2014/main" id="{713C4955-4BE6-45F2-B2A5-DE7D718B7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19850"/>
            <a:ext cx="609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C6673"/>
                </a:solidFill>
                <a:latin typeface="PingFang SC"/>
                <a:ea typeface="PingFang SC"/>
                <a:cs typeface="PingFang SC"/>
              </a:defRPr>
            </a:pPr>
            <a:r>
              <a:t>03</a:t>
            </a:r>
          </a:p>
        </p:txBody>
      </p:sp>
      <p:sp>
        <p:nvSpPr>
          <p:cNvPr id="6" name="decision-intro-3">
            <a:extLst xmlns:a="http://schemas.openxmlformats.org/drawingml/2006/main">
              <a:ext uri="{FF2B5EF4-FFF2-40B4-BE49-F238E27FC236}">
                <a16:creationId xmlns:a16="http://schemas.microsoft.com/office/drawing/2014/main" id="{AFE8884C-E6C4-438E-8A50-F85FFC902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919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C6673"/>
                </a:solidFill>
                <a:latin typeface="PingFang SC"/>
                <a:ea typeface="PingFang SC"/>
                <a:cs typeface="PingFang SC"/>
              </a:defRPr>
            </a:pPr>
            <a:r>
              <a:t>同一 workload 下，同时保留 HOT POLL 与 TCP Socket 作为两端参考。</a:t>
            </a:r>
          </a:p>
        </p:txBody>
      </p:sp>
      <p:sp>
        <p:nvSpPr>
          <p:cNvPr id="7" name="decision-rule-3-0">
            <a:extLst xmlns:a="http://schemas.openxmlformats.org/drawingml/2006/main">
              <a:ext uri="{FF2B5EF4-FFF2-40B4-BE49-F238E27FC236}">
                <a16:creationId xmlns:a16="http://schemas.microsoft.com/office/drawing/2014/main" id="{7372970A-D172-4660-A9C6-2AC40DA1B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0505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8" name="decision-title-3-0">
            <a:extLst xmlns:a="http://schemas.openxmlformats.org/drawingml/2006/main">
              <a:ext uri="{FF2B5EF4-FFF2-40B4-BE49-F238E27FC236}">
                <a16:creationId xmlns:a16="http://schemas.microsoft.com/office/drawing/2014/main" id="{7DE35FF1-B1CB-4496-B60E-5599943F9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71750"/>
            <a:ext cx="33337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Workload</a:t>
            </a:r>
          </a:p>
        </p:txBody>
      </p:sp>
      <p:sp>
        <p:nvSpPr>
          <p:cNvPr id="9" name="decision-body-3-0">
            <a:extLst xmlns:a="http://schemas.openxmlformats.org/drawingml/2006/main">
              <a:ext uri="{FF2B5EF4-FFF2-40B4-BE49-F238E27FC236}">
                <a16:creationId xmlns:a16="http://schemas.microsoft.com/office/drawing/2014/main" id="{4A440505-5DFE-4879-A308-857E3FF7C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76600"/>
            <a:ext cx="3333750" cy="167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C6673"/>
                </a:solidFill>
                <a:latin typeface="PingFang SC"/>
                <a:ea typeface="PingFang SC"/>
                <a:cs typeface="PingFang SC"/>
              </a:defRPr>
            </a:pPr>
            <a:r>
              <a:t>Poisson arrivals · 350 QPS · 64 B echo · 15 s · 5285 requests。</a:t>
            </a:r>
          </a:p>
        </p:txBody>
      </p:sp>
      <p:sp>
        <p:nvSpPr>
          <p:cNvPr id="10" name="decision-rule-3-1">
            <a:extLst xmlns:a="http://schemas.openxmlformats.org/drawingml/2006/main">
              <a:ext uri="{FF2B5EF4-FFF2-40B4-BE49-F238E27FC236}">
                <a16:creationId xmlns:a16="http://schemas.microsoft.com/office/drawing/2014/main" id="{DA00810A-49B8-4B96-B3B4-3880D1945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30505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1" name="decision-title-3-1">
            <a:extLst xmlns:a="http://schemas.openxmlformats.org/drawingml/2006/main">
              <a:ext uri="{FF2B5EF4-FFF2-40B4-BE49-F238E27FC236}">
                <a16:creationId xmlns:a16="http://schemas.microsoft.com/office/drawing/2014/main" id="{5B07DB58-20E8-4E16-9266-2C552DECA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571750"/>
            <a:ext cx="33337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Knobs</a:t>
            </a:r>
          </a:p>
        </p:txBody>
      </p:sp>
      <p:sp>
        <p:nvSpPr>
          <p:cNvPr id="12" name="decision-body-3-1">
            <a:extLst xmlns:a="http://schemas.openxmlformats.org/drawingml/2006/main">
              <a:ext uri="{FF2B5EF4-FFF2-40B4-BE49-F238E27FC236}">
                <a16:creationId xmlns:a16="http://schemas.microsoft.com/office/drawing/2014/main" id="{00C41970-6DCE-4C0F-814B-EA755050E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276600"/>
            <a:ext cx="3333750" cy="167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C6673"/>
                </a:solidFill>
                <a:latin typeface="PingFang SC"/>
                <a:ea typeface="PingFang SC"/>
                <a:cs typeface="PingFang SC"/>
              </a:defRPr>
            </a:pPr>
            <a:r>
              <a:t>BUD={0,16,128,1024}；SLEEP={1,10,100,1000,10000} µs。</a:t>
            </a:r>
          </a:p>
        </p:txBody>
      </p:sp>
      <p:sp>
        <p:nvSpPr>
          <p:cNvPr id="13" name="decision-rule-3-2">
            <a:extLst xmlns:a="http://schemas.openxmlformats.org/drawingml/2006/main">
              <a:ext uri="{FF2B5EF4-FFF2-40B4-BE49-F238E27FC236}">
                <a16:creationId xmlns:a16="http://schemas.microsoft.com/office/drawing/2014/main" id="{CB2139CC-877A-4589-80CD-5B541D0BF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30505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4" name="decision-title-3-2">
            <a:extLst xmlns:a="http://schemas.openxmlformats.org/drawingml/2006/main">
              <a:ext uri="{FF2B5EF4-FFF2-40B4-BE49-F238E27FC236}">
                <a16:creationId xmlns:a16="http://schemas.microsoft.com/office/drawing/2014/main" id="{2FD18349-CD67-4F1C-9C63-0B6947E6B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71750"/>
            <a:ext cx="33337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Metrics</a:t>
            </a:r>
          </a:p>
        </p:txBody>
      </p:sp>
      <p:sp>
        <p:nvSpPr>
          <p:cNvPr id="15" name="decision-body-3-2">
            <a:extLst xmlns:a="http://schemas.openxmlformats.org/drawingml/2006/main">
              <a:ext uri="{FF2B5EF4-FFF2-40B4-BE49-F238E27FC236}">
                <a16:creationId xmlns:a16="http://schemas.microsoft.com/office/drawing/2014/main" id="{DC3BA496-84B9-44C8-AFDD-BF430E13D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276600"/>
            <a:ext cx="3333750" cy="167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C6673"/>
                </a:solidFill>
                <a:latin typeface="PingFang SC"/>
                <a:ea typeface="PingFang SC"/>
                <a:cs typeface="PingFang SC"/>
              </a:defRPr>
            </a:pPr>
            <a:r>
              <a:t>Client / server CPU；RPC p50、p99、p99.9。p99.9 只约 5 个尾样本，用于趋势观察。</a:t>
            </a:r>
          </a:p>
        </p:txBody>
      </p:sp>
      <p:sp>
        <p:nvSpPr>
          <p:cNvPr id="16" name="decision-conclusion-bg-3">
            <a:extLst xmlns:a="http://schemas.openxmlformats.org/drawingml/2006/main">
              <a:ext uri="{FF2B5EF4-FFF2-40B4-BE49-F238E27FC236}">
                <a16:creationId xmlns:a16="http://schemas.microsoft.com/office/drawing/2014/main" id="{B26AB1AF-D1CD-4A1C-860D-F981A7358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57800"/>
            <a:ext cx="113919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solidFill>
              <a:srgbClr val="D0EDFA"/>
            </a:solidFill>
            <a:prstDash val="solid"/>
          </a:ln>
        </p:spPr>
      </p:sp>
      <p:sp>
        <p:nvSpPr>
          <p:cNvPr id="17" name="decision-conclusion-3">
            <a:extLst xmlns:a="http://schemas.openxmlformats.org/drawingml/2006/main">
              <a:ext uri="{FF2B5EF4-FFF2-40B4-BE49-F238E27FC236}">
                <a16:creationId xmlns:a16="http://schemas.microsoft.com/office/drawing/2014/main" id="{9CA95BB7-FF94-41F7-899A-8B02D9C59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38775"/>
            <a:ext cx="108966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问题不是“poll 还是 sleep”，而是每个 p99 SLO 对应多少 CPU 预算。</a:t>
            </a:r>
          </a:p>
        </p:txBody>
      </p:sp>
    </p:spTree>
    <p:extLst>
      <p:ext uri="{BB962C8B-B14F-4D97-AF65-F5344CB8AC3E}">
        <p14:creationId xmlns:p14="http://schemas.microsoft.com/office/powerpoint/2010/main" val="201051684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accent-4">
            <a:extLst xmlns:a="http://schemas.openxmlformats.org/drawingml/2006/main">
              <a:ext uri="{FF2B5EF4-FFF2-40B4-BE49-F238E27FC236}">
                <a16:creationId xmlns:a16="http://schemas.microsoft.com/office/drawing/2014/main" id="{C4AB76D8-CADD-4376-909F-E251FAFE0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7810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DFBFAF4A-B011-4933-80BC-A8533472A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11391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Pareto 前沿给出 CPU 与 p99 的可选区间</a:t>
            </a:r>
          </a:p>
        </p:txBody>
      </p:sp>
      <p:sp>
        <p:nvSpPr>
          <p:cNvPr id="3" name="footer-rule-4">
            <a:extLst xmlns:a="http://schemas.openxmlformats.org/drawingml/2006/main">
              <a:ext uri="{FF2B5EF4-FFF2-40B4-BE49-F238E27FC236}">
                <a16:creationId xmlns:a16="http://schemas.microsoft.com/office/drawing/2014/main" id="{475DB4B6-F9F1-4424-B8C5-DC4CCDA85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source-4">
            <a:extLst xmlns:a="http://schemas.openxmlformats.org/drawingml/2006/main">
              <a:ext uri="{FF2B5EF4-FFF2-40B4-BE49-F238E27FC236}">
                <a16:creationId xmlns:a16="http://schemas.microsoft.com/office/drawing/2014/main" id="{1E9BF8F3-5199-45BF-A782-E91186475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9906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673"/>
                </a:solidFill>
                <a:latin typeface="PingFang SC"/>
                <a:ea typeface="PingFang SC"/>
                <a:cs typeface="PingFang SC"/>
              </a:defRPr>
            </a:pPr>
            <a:r>
              <a:t>Source: poll_idle_poisson_350qps/README.md · 350 QPS single-run sweep</a:t>
            </a:r>
          </a:p>
        </p:txBody>
      </p:sp>
      <p:sp>
        <p:nvSpPr>
          <p:cNvPr id="5" name="page-4">
            <a:extLst xmlns:a="http://schemas.openxmlformats.org/drawingml/2006/main">
              <a:ext uri="{FF2B5EF4-FFF2-40B4-BE49-F238E27FC236}">
                <a16:creationId xmlns:a16="http://schemas.microsoft.com/office/drawing/2014/main" id="{7D1FC661-10EC-405B-9D20-AA8A36A7A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19850"/>
            <a:ext cx="609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C6673"/>
                </a:solidFill>
                <a:latin typeface="PingFang SC"/>
                <a:ea typeface="PingFang SC"/>
                <a:cs typeface="PingFang SC"/>
              </a:defRPr>
            </a:pPr>
            <a:r>
              <a:t>04</a:t>
            </a:r>
          </a:p>
        </p:txBody>
      </p:sp>
      <p:sp>
        <p:nvSpPr>
          <p:cNvPr id="6" name="takeaway-4">
            <a:extLst xmlns:a="http://schemas.openxmlformats.org/drawingml/2006/main">
              <a:ext uri="{FF2B5EF4-FFF2-40B4-BE49-F238E27FC236}">
                <a16:creationId xmlns:a16="http://schemas.microsoft.com/office/drawing/2014/main" id="{888B26C9-0471-4C80-9673-9D52D4A31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43000"/>
            <a:ext cx="113919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C6673"/>
                </a:solidFill>
                <a:latin typeface="PingFang SC"/>
                <a:ea typeface="PingFang SC"/>
                <a:cs typeface="PingFang SC"/>
              </a:defRPr>
            </a:pPr>
            <a:r>
              <a:t>BUD=0 / SLEEP=10 µs 位于低延迟前沿；继续压低 CPU，p99 会进入数百微秒到毫秒区间。</a:t>
            </a:r>
          </a:p>
        </p:txBody>
      </p:sp>
      <p:sp>
        <p:nvSpPr>
          <p:cNvPr id="7" name="figure-backdrop-4">
            <a:extLst xmlns:a="http://schemas.openxmlformats.org/drawingml/2006/main">
              <a:ext uri="{FF2B5EF4-FFF2-40B4-BE49-F238E27FC236}">
                <a16:creationId xmlns:a16="http://schemas.microsoft.com/office/drawing/2014/main" id="{DA00A8EA-943F-4F29-9279-3AD06182C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57350"/>
            <a:ext cx="113919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a72eea85a74c87"/>
          <a:stretch xmlns:a="http://schemas.openxmlformats.org/drawingml/2006/main"/>
        </p:blipFill>
        <p:spPr>
          <a:xfrm xmlns:a="http://schemas.openxmlformats.org/drawingml/2006/main">
            <a:off x="1610023" y="1733550"/>
            <a:ext cx="8971954" cy="43243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96222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accent-5">
            <a:extLst xmlns:a="http://schemas.openxmlformats.org/drawingml/2006/main">
              <a:ext uri="{FF2B5EF4-FFF2-40B4-BE49-F238E27FC236}">
                <a16:creationId xmlns:a16="http://schemas.microsoft.com/office/drawing/2014/main" id="{485F8DD6-B589-432D-BB98-5936C4E05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7810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37848FB2-65D3-477E-BDDF-ABEC5C15A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11391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SLEEP 是第一阶 latency knob</a:t>
            </a:r>
          </a:p>
        </p:txBody>
      </p:sp>
      <p:sp>
        <p:nvSpPr>
          <p:cNvPr id="3" name="footer-rule-5">
            <a:extLst xmlns:a="http://schemas.openxmlformats.org/drawingml/2006/main">
              <a:ext uri="{FF2B5EF4-FFF2-40B4-BE49-F238E27FC236}">
                <a16:creationId xmlns:a16="http://schemas.microsoft.com/office/drawing/2014/main" id="{C853FFAF-5327-47BA-B9A6-94CA8F73C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source-5">
            <a:extLst xmlns:a="http://schemas.openxmlformats.org/drawingml/2006/main">
              <a:ext uri="{FF2B5EF4-FFF2-40B4-BE49-F238E27FC236}">
                <a16:creationId xmlns:a16="http://schemas.microsoft.com/office/drawing/2014/main" id="{7402E43F-8D10-459A-92B2-490FCCE5C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9906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673"/>
                </a:solidFill>
                <a:latin typeface="PingFang SC"/>
                <a:ea typeface="PingFang SC"/>
                <a:cs typeface="PingFang SC"/>
              </a:defRPr>
            </a:pPr>
            <a:r>
              <a:t>Source: poll_idle_poisson_350qps/README.md · 350 QPS single-run sweep</a:t>
            </a:r>
          </a:p>
        </p:txBody>
      </p:sp>
      <p:sp>
        <p:nvSpPr>
          <p:cNvPr id="5" name="page-5">
            <a:extLst xmlns:a="http://schemas.openxmlformats.org/drawingml/2006/main">
              <a:ext uri="{FF2B5EF4-FFF2-40B4-BE49-F238E27FC236}">
                <a16:creationId xmlns:a16="http://schemas.microsoft.com/office/drawing/2014/main" id="{41377979-8C3A-45CC-97D2-F76DA99D8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19850"/>
            <a:ext cx="609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C6673"/>
                </a:solidFill>
                <a:latin typeface="PingFang SC"/>
                <a:ea typeface="PingFang SC"/>
                <a:cs typeface="PingFang SC"/>
              </a:defRPr>
            </a:pPr>
            <a:r>
              <a:t>05</a:t>
            </a:r>
          </a:p>
        </p:txBody>
      </p:sp>
      <p:sp>
        <p:nvSpPr>
          <p:cNvPr id="6" name="takeaway-5">
            <a:extLst xmlns:a="http://schemas.openxmlformats.org/drawingml/2006/main">
              <a:ext uri="{FF2B5EF4-FFF2-40B4-BE49-F238E27FC236}">
                <a16:creationId xmlns:a16="http://schemas.microsoft.com/office/drawing/2014/main" id="{E3CF0AA7-A8E7-47FF-A456-5302CB89C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43000"/>
            <a:ext cx="113919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C6673"/>
                </a:solidFill>
                <a:latin typeface="PingFang SC"/>
                <a:ea typeface="PingFang SC"/>
                <a:cs typeface="PingFang SC"/>
              </a:defRPr>
            </a:pPr>
            <a:r>
              <a:t>1–10 µs 的 p99 仍在约 100 µs；从 100 µs 起，p50/p99 迅速跟随 sleep 增长。更大 BUD 只能部分推迟这个增长。</a:t>
            </a:r>
          </a:p>
        </p:txBody>
      </p:sp>
      <p:sp>
        <p:nvSpPr>
          <p:cNvPr id="7" name="figure-backdrop-5">
            <a:extLst xmlns:a="http://schemas.openxmlformats.org/drawingml/2006/main">
              <a:ext uri="{FF2B5EF4-FFF2-40B4-BE49-F238E27FC236}">
                <a16:creationId xmlns:a16="http://schemas.microsoft.com/office/drawing/2014/main" id="{21C66C1C-BAED-4AB6-B7C5-372B0BFC0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57350"/>
            <a:ext cx="113919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2fe3caf157451d"/>
          <a:stretch xmlns:a="http://schemas.openxmlformats.org/drawingml/2006/main"/>
        </p:blipFill>
        <p:spPr>
          <a:xfrm xmlns:a="http://schemas.openxmlformats.org/drawingml/2006/main">
            <a:off x="1016291" y="1733550"/>
            <a:ext cx="10159419" cy="43243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543010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accent-6">
            <a:extLst xmlns:a="http://schemas.openxmlformats.org/drawingml/2006/main">
              <a:ext uri="{FF2B5EF4-FFF2-40B4-BE49-F238E27FC236}">
                <a16:creationId xmlns:a16="http://schemas.microsoft.com/office/drawing/2014/main" id="{4336A55F-9E57-40AA-A3B0-B4522F68D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7810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6E201731-C161-4ED6-B19B-086A3DECC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11391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CPU 随 SLEEP 下降，BUD 把拐点右移</a:t>
            </a:r>
          </a:p>
        </p:txBody>
      </p:sp>
      <p:sp>
        <p:nvSpPr>
          <p:cNvPr id="3" name="footer-rule-6">
            <a:extLst xmlns:a="http://schemas.openxmlformats.org/drawingml/2006/main">
              <a:ext uri="{FF2B5EF4-FFF2-40B4-BE49-F238E27FC236}">
                <a16:creationId xmlns:a16="http://schemas.microsoft.com/office/drawing/2014/main" id="{F2A7B707-69E3-4C6B-8E31-2606FB37F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source-6">
            <a:extLst xmlns:a="http://schemas.openxmlformats.org/drawingml/2006/main">
              <a:ext uri="{FF2B5EF4-FFF2-40B4-BE49-F238E27FC236}">
                <a16:creationId xmlns:a16="http://schemas.microsoft.com/office/drawing/2014/main" id="{8830A2DE-7E85-42C4-A3EA-877C8E86B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9906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673"/>
                </a:solidFill>
                <a:latin typeface="PingFang SC"/>
                <a:ea typeface="PingFang SC"/>
                <a:cs typeface="PingFang SC"/>
              </a:defRPr>
            </a:pPr>
            <a:r>
              <a:t>Source: poll_idle_poisson_350qps/README.md · 350 QPS single-run sweep</a:t>
            </a:r>
          </a:p>
        </p:txBody>
      </p:sp>
      <p:sp>
        <p:nvSpPr>
          <p:cNvPr id="5" name="page-6">
            <a:extLst xmlns:a="http://schemas.openxmlformats.org/drawingml/2006/main">
              <a:ext uri="{FF2B5EF4-FFF2-40B4-BE49-F238E27FC236}">
                <a16:creationId xmlns:a16="http://schemas.microsoft.com/office/drawing/2014/main" id="{A95C7BBA-4966-474B-BC8D-7F5DD595D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19850"/>
            <a:ext cx="609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C6673"/>
                </a:solidFill>
                <a:latin typeface="PingFang SC"/>
                <a:ea typeface="PingFang SC"/>
                <a:cs typeface="PingFang SC"/>
              </a:defRPr>
            </a:pPr>
            <a:r>
              <a:t>06</a:t>
            </a:r>
          </a:p>
        </p:txBody>
      </p:sp>
      <p:sp>
        <p:nvSpPr>
          <p:cNvPr id="6" name="takeaway-6">
            <a:extLst xmlns:a="http://schemas.openxmlformats.org/drawingml/2006/main">
              <a:ext uri="{FF2B5EF4-FFF2-40B4-BE49-F238E27FC236}">
                <a16:creationId xmlns:a16="http://schemas.microsoft.com/office/drawing/2014/main" id="{8BC85618-028F-493A-8B6A-A01704C01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43000"/>
            <a:ext cx="113919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C6673"/>
                </a:solidFill>
                <a:latin typeface="PingFang SC"/>
                <a:ea typeface="PingFang SC"/>
                <a:cs typeface="PingFang SC"/>
              </a:defRPr>
            </a:pPr>
            <a:r>
              <a:t>低 BUD 更早进入 idle，因此更省 CPU；高 BUD 保持更久 busy polling，在 1–10 µs 区间仍接近满核。</a:t>
            </a:r>
          </a:p>
        </p:txBody>
      </p:sp>
      <p:sp>
        <p:nvSpPr>
          <p:cNvPr id="7" name="figure-backdrop-6">
            <a:extLst xmlns:a="http://schemas.openxmlformats.org/drawingml/2006/main">
              <a:ext uri="{FF2B5EF4-FFF2-40B4-BE49-F238E27FC236}">
                <a16:creationId xmlns:a16="http://schemas.microsoft.com/office/drawing/2014/main" id="{20470E5A-EB2E-43C9-A079-C90576C99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57350"/>
            <a:ext cx="113919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a60a627b444d3b"/>
          <a:stretch xmlns:a="http://schemas.openxmlformats.org/drawingml/2006/main"/>
        </p:blipFill>
        <p:spPr>
          <a:xfrm xmlns:a="http://schemas.openxmlformats.org/drawingml/2006/main">
            <a:off x="1018654" y="1733550"/>
            <a:ext cx="10154693" cy="43243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379256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accent-7">
            <a:extLst xmlns:a="http://schemas.openxmlformats.org/drawingml/2006/main">
              <a:ext uri="{FF2B5EF4-FFF2-40B4-BE49-F238E27FC236}">
                <a16:creationId xmlns:a16="http://schemas.microsoft.com/office/drawing/2014/main" id="{0AF590C2-ACF5-4729-A257-AD55AFEC5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7810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AF69AA64-D828-4726-88B7-E5EF7B590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11391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BUD × SLEEP 热力图给出可操作的 SLO 区间</a:t>
            </a:r>
          </a:p>
        </p:txBody>
      </p:sp>
      <p:sp>
        <p:nvSpPr>
          <p:cNvPr id="3" name="footer-rule-7">
            <a:extLst xmlns:a="http://schemas.openxmlformats.org/drawingml/2006/main">
              <a:ext uri="{FF2B5EF4-FFF2-40B4-BE49-F238E27FC236}">
                <a16:creationId xmlns:a16="http://schemas.microsoft.com/office/drawing/2014/main" id="{F0E25815-7208-4FF2-AED7-64F6136E8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source-7">
            <a:extLst xmlns:a="http://schemas.openxmlformats.org/drawingml/2006/main">
              <a:ext uri="{FF2B5EF4-FFF2-40B4-BE49-F238E27FC236}">
                <a16:creationId xmlns:a16="http://schemas.microsoft.com/office/drawing/2014/main" id="{F2AC8884-5B7F-458F-B6C2-67FEA7574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9906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673"/>
                </a:solidFill>
                <a:latin typeface="PingFang SC"/>
                <a:ea typeface="PingFang SC"/>
                <a:cs typeface="PingFang SC"/>
              </a:defRPr>
            </a:pPr>
            <a:r>
              <a:t>Source: poll_idle_poisson_350qps/README.md · 350 QPS single-run sweep</a:t>
            </a:r>
          </a:p>
        </p:txBody>
      </p:sp>
      <p:sp>
        <p:nvSpPr>
          <p:cNvPr id="5" name="page-7">
            <a:extLst xmlns:a="http://schemas.openxmlformats.org/drawingml/2006/main">
              <a:ext uri="{FF2B5EF4-FFF2-40B4-BE49-F238E27FC236}">
                <a16:creationId xmlns:a16="http://schemas.microsoft.com/office/drawing/2014/main" id="{E508AD8E-3970-4062-BE82-3E5D57360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19850"/>
            <a:ext cx="609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C6673"/>
                </a:solidFill>
                <a:latin typeface="PingFang SC"/>
                <a:ea typeface="PingFang SC"/>
                <a:cs typeface="PingFang SC"/>
              </a:defRPr>
            </a:pPr>
            <a:r>
              <a:t>07</a:t>
            </a:r>
          </a:p>
        </p:txBody>
      </p:sp>
      <p:sp>
        <p:nvSpPr>
          <p:cNvPr id="6" name="figure-backdrop-7">
            <a:extLst xmlns:a="http://schemas.openxmlformats.org/drawingml/2006/main">
              <a:ext uri="{FF2B5EF4-FFF2-40B4-BE49-F238E27FC236}">
                <a16:creationId xmlns:a16="http://schemas.microsoft.com/office/drawing/2014/main" id="{D45C7EF6-94E9-4D48-A258-4799AE269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7810500" cy="487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insight-panel-7">
            <a:extLst xmlns:a="http://schemas.openxmlformats.org/drawingml/2006/main">
              <a:ext uri="{FF2B5EF4-FFF2-40B4-BE49-F238E27FC236}">
                <a16:creationId xmlns:a16="http://schemas.microsoft.com/office/drawing/2014/main" id="{5414C133-9E46-4BE5-A8DB-316AABA10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257300"/>
            <a:ext cx="3295650" cy="487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8" name="metric-7">
            <a:extLst xmlns:a="http://schemas.openxmlformats.org/drawingml/2006/main">
              <a:ext uri="{FF2B5EF4-FFF2-40B4-BE49-F238E27FC236}">
                <a16:creationId xmlns:a16="http://schemas.microsoft.com/office/drawing/2014/main" id="{48C98418-EB48-4A6A-A96F-95CA67F6B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638300"/>
            <a:ext cx="272415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t>10 µs</a:t>
            </a:r>
          </a:p>
        </p:txBody>
      </p:sp>
      <p:sp>
        <p:nvSpPr>
          <p:cNvPr id="9" name="takeaway-7">
            <a:extLst xmlns:a="http://schemas.openxmlformats.org/drawingml/2006/main">
              <a:ext uri="{FF2B5EF4-FFF2-40B4-BE49-F238E27FC236}">
                <a16:creationId xmlns:a16="http://schemas.microsoft.com/office/drawing/2014/main" id="{EC4434A8-9E0A-4645-85EC-A2E26AC15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590800"/>
            <a:ext cx="272415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当前 envelope 的低延迟边界。</a:t>
            </a:r>
          </a:p>
        </p:txBody>
      </p:sp>
      <p:sp>
        <p:nvSpPr>
          <p:cNvPr id="10" name="detail-7">
            <a:extLst xmlns:a="http://schemas.openxmlformats.org/drawingml/2006/main">
              <a:ext uri="{FF2B5EF4-FFF2-40B4-BE49-F238E27FC236}">
                <a16:creationId xmlns:a16="http://schemas.microsoft.com/office/drawing/2014/main" id="{7040C53A-1D3F-46D4-9F53-DB9302CD5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000500"/>
            <a:ext cx="2724150" cy="190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C6673"/>
                </a:solidFill>
                <a:latin typeface="PingFang SC"/>
                <a:ea typeface="PingFang SC"/>
                <a:cs typeface="PingFang SC"/>
              </a:defRPr>
            </a:pPr>
            <a:r>
              <a:t>SLEEP=1–10 µs 时 p99 约 99 µs，BUD 主要决定 CPU。到 100 µs 后 latency 脱离低延迟带，更大 BUD 仅以更高 CPU 换取部分改善。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687a4f6dd14e2f"/>
          <a:stretch xmlns:a="http://schemas.openxmlformats.org/drawingml/2006/main"/>
        </p:blipFill>
        <p:spPr>
          <a:xfrm xmlns:a="http://schemas.openxmlformats.org/drawingml/2006/main">
            <a:off x="936308" y="1352550"/>
            <a:ext cx="6737985" cy="46863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675468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accent-8">
            <a:extLst xmlns:a="http://schemas.openxmlformats.org/drawingml/2006/main">
              <a:ext uri="{FF2B5EF4-FFF2-40B4-BE49-F238E27FC236}">
                <a16:creationId xmlns:a16="http://schemas.microsoft.com/office/drawing/2014/main" id="{B8BA382E-A4DD-4412-8F38-B9EAB1CD4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7810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" name="title-8">
            <a:extLst xmlns:a="http://schemas.openxmlformats.org/drawingml/2006/main">
              <a:ext uri="{FF2B5EF4-FFF2-40B4-BE49-F238E27FC236}">
                <a16:creationId xmlns:a16="http://schemas.microsoft.com/office/drawing/2014/main" id="{EC4B38D7-678E-4574-B71D-9FAC1F562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11391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默认候选要由 p99 SLO 选择</a:t>
            </a:r>
          </a:p>
        </p:txBody>
      </p:sp>
      <p:sp>
        <p:nvSpPr>
          <p:cNvPr id="3" name="footer-rule-8">
            <a:extLst xmlns:a="http://schemas.openxmlformats.org/drawingml/2006/main">
              <a:ext uri="{FF2B5EF4-FFF2-40B4-BE49-F238E27FC236}">
                <a16:creationId xmlns:a16="http://schemas.microsoft.com/office/drawing/2014/main" id="{48C4706C-4CD4-4247-8B6A-0FCB40208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source-8">
            <a:extLst xmlns:a="http://schemas.openxmlformats.org/drawingml/2006/main">
              <a:ext uri="{FF2B5EF4-FFF2-40B4-BE49-F238E27FC236}">
                <a16:creationId xmlns:a16="http://schemas.microsoft.com/office/drawing/2014/main" id="{7404AF70-5C2F-4C76-BF9A-C3EA51ACD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9906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673"/>
                </a:solidFill>
                <a:latin typeface="PingFang SC"/>
                <a:ea typeface="PingFang SC"/>
                <a:cs typeface="PingFang SC"/>
              </a:defRPr>
            </a:pPr>
            <a:r>
              <a:t>Source: poll_idle_poisson_350qps/README.md · 350 QPS single-run sweep</a:t>
            </a:r>
          </a:p>
        </p:txBody>
      </p:sp>
      <p:sp>
        <p:nvSpPr>
          <p:cNvPr id="5" name="page-8">
            <a:extLst xmlns:a="http://schemas.openxmlformats.org/drawingml/2006/main">
              <a:ext uri="{FF2B5EF4-FFF2-40B4-BE49-F238E27FC236}">
                <a16:creationId xmlns:a16="http://schemas.microsoft.com/office/drawing/2014/main" id="{A6AB5A11-0CCD-483D-9B7B-2584CD18A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19850"/>
            <a:ext cx="609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C6673"/>
                </a:solidFill>
                <a:latin typeface="PingFang SC"/>
                <a:ea typeface="PingFang SC"/>
                <a:cs typeface="PingFang SC"/>
              </a:defRPr>
            </a:pPr>
            <a:r>
              <a:t>08</a:t>
            </a:r>
          </a:p>
        </p:txBody>
      </p:sp>
      <p:sp>
        <p:nvSpPr>
          <p:cNvPr id="6" name="mode-intro-8">
            <a:extLst xmlns:a="http://schemas.openxmlformats.org/drawingml/2006/main">
              <a:ext uri="{FF2B5EF4-FFF2-40B4-BE49-F238E27FC236}">
                <a16:creationId xmlns:a16="http://schemas.microsoft.com/office/drawing/2014/main" id="{5184B45E-6E69-43BC-B5B6-6746D539A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19200"/>
            <a:ext cx="113919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C6673"/>
                </a:solidFill>
                <a:latin typeface="PingFang SC"/>
                <a:ea typeface="PingFang SC"/>
                <a:cs typeface="PingFang SC"/>
              </a:defRPr>
            </a:pPr>
            <a:r>
              <a:t>相同 350 QPS 低负载下，三种配置对应不同的 latency / CPU 目标。</a:t>
            </a:r>
          </a:p>
        </p:txBody>
      </p:sp>
      <p:sp>
        <p:nvSpPr>
          <p:cNvPr id="7" name="mode-header-8">
            <a:extLst xmlns:a="http://schemas.openxmlformats.org/drawingml/2006/main">
              <a:ext uri="{FF2B5EF4-FFF2-40B4-BE49-F238E27FC236}">
                <a16:creationId xmlns:a16="http://schemas.microsoft.com/office/drawing/2014/main" id="{CDD648D8-239C-4985-AF80-73491973B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05000"/>
            <a:ext cx="113919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CDBEC5-F49E-460A-A821-16AFE9C09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19300"/>
            <a:ext cx="2381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目标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83A5C4-65B7-4844-B7B6-1A76CBB40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019300"/>
            <a:ext cx="2381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配置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F742E8-02E3-4721-8920-28AE7850C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19300"/>
            <a:ext cx="1714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p99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C83EEA-E4C2-4398-92A9-7B2640556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19300"/>
            <a:ext cx="3143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Client / Server CPU</a:t>
            </a:r>
          </a:p>
        </p:txBody>
      </p:sp>
      <p:sp>
        <p:nvSpPr>
          <p:cNvPr id="12" name="mode-row-8-0">
            <a:extLst xmlns:a="http://schemas.openxmlformats.org/drawingml/2006/main">
              <a:ext uri="{FF2B5EF4-FFF2-40B4-BE49-F238E27FC236}">
                <a16:creationId xmlns:a16="http://schemas.microsoft.com/office/drawing/2014/main" id="{D39B7AC5-59C4-41E0-A088-A361A92CC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81250"/>
            <a:ext cx="113919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230D89-4101-4100-9836-191556339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09850"/>
            <a:ext cx="23812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低延迟 knee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2152D1-BC34-413C-83BD-8C7A7D32C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609850"/>
            <a:ext cx="23812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BUD=0 / 10 µs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33727F-FF5C-4067-91A1-CC263D0CC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09850"/>
            <a:ext cx="1714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99.13 µs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47D08D-48C0-4A19-A6B4-A859E6F6E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609850"/>
            <a:ext cx="31432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13.55% / 13.29%</a:t>
            </a:r>
          </a:p>
        </p:txBody>
      </p:sp>
      <p:sp>
        <p:nvSpPr>
          <p:cNvPr id="17" name="mode-row-8-1">
            <a:extLst xmlns:a="http://schemas.openxmlformats.org/drawingml/2006/main">
              <a:ext uri="{FF2B5EF4-FFF2-40B4-BE49-F238E27FC236}">
                <a16:creationId xmlns:a16="http://schemas.microsoft.com/office/drawing/2014/main" id="{ECC27844-DA50-491B-BDA4-099DA97EB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19450"/>
            <a:ext cx="113919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3550EF-90D6-4E64-9D36-038FDB80E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48050"/>
            <a:ext cx="23812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接近 HOT latency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EEDBBE-8FC7-402C-A6C8-97E2BF61B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448050"/>
            <a:ext cx="23812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BUD=1024 / 10 µs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431D046-1E58-4986-B179-DA6E8DDF6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48050"/>
            <a:ext cx="1714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98.69 µs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D8386D7-3E02-445E-AA02-F1B952354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448050"/>
            <a:ext cx="31432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97.81% / 93.90%</a:t>
            </a:r>
          </a:p>
        </p:txBody>
      </p:sp>
      <p:sp>
        <p:nvSpPr>
          <p:cNvPr id="22" name="mode-row-8-2">
            <a:extLst xmlns:a="http://schemas.openxmlformats.org/drawingml/2006/main">
              <a:ext uri="{FF2B5EF4-FFF2-40B4-BE49-F238E27FC236}">
                <a16:creationId xmlns:a16="http://schemas.microsoft.com/office/drawing/2014/main" id="{BC580C80-7C8D-475D-AB29-8DA6DD7E0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57650"/>
            <a:ext cx="113919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04CF444-322A-4093-951C-70C810862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86250"/>
            <a:ext cx="23812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接近 Socket CPU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770F020-37F6-4056-89F8-4049F2D1A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286250"/>
            <a:ext cx="23812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BUD=0 / 1 ms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CE9CF89-EA89-4056-8680-4E4D112DC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286250"/>
            <a:ext cx="1714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1.888 ms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F955321-8E90-4368-9B2E-70F70FCD1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286250"/>
            <a:ext cx="31432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1.13% / 0.70%</a:t>
            </a:r>
          </a:p>
        </p:txBody>
      </p:sp>
      <p:sp>
        <p:nvSpPr>
          <p:cNvPr id="27" name="mode-recommendation-8">
            <a:extLst xmlns:a="http://schemas.openxmlformats.org/drawingml/2006/main">
              <a:ext uri="{FF2B5EF4-FFF2-40B4-BE49-F238E27FC236}">
                <a16:creationId xmlns:a16="http://schemas.microsoft.com/office/drawing/2014/main" id="{FE95F086-0E49-4486-9923-879CC85B2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19700"/>
            <a:ext cx="113919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t>当前推荐候选：BUD=0 / SLEEP=10 µs；若 SLO 允许毫秒级 p99，再换取 socket-like CPU。</a:t>
            </a:r>
          </a:p>
        </p:txBody>
      </p:sp>
    </p:spTree>
    <p:extLst>
      <p:ext uri="{BB962C8B-B14F-4D97-AF65-F5344CB8AC3E}">
        <p14:creationId xmlns:p14="http://schemas.microsoft.com/office/powerpoint/2010/main" val="153730074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accent-9">
            <a:extLst xmlns:a="http://schemas.openxmlformats.org/drawingml/2006/main">
              <a:ext uri="{FF2B5EF4-FFF2-40B4-BE49-F238E27FC236}">
                <a16:creationId xmlns:a16="http://schemas.microsoft.com/office/drawing/2014/main" id="{522FB3BC-6B78-4ADE-9E53-25EC096C2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7810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" name="title-9">
            <a:extLst xmlns:a="http://schemas.openxmlformats.org/drawingml/2006/main">
              <a:ext uri="{FF2B5EF4-FFF2-40B4-BE49-F238E27FC236}">
                <a16:creationId xmlns:a16="http://schemas.microsoft.com/office/drawing/2014/main" id="{4AFD2688-0668-4C19-8685-2B3C8F7B3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11391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当前结果能选候选点，不能定跨机器默认值</a:t>
            </a:r>
          </a:p>
        </p:txBody>
      </p:sp>
      <p:sp>
        <p:nvSpPr>
          <p:cNvPr id="3" name="footer-rule-9">
            <a:extLst xmlns:a="http://schemas.openxmlformats.org/drawingml/2006/main">
              <a:ext uri="{FF2B5EF4-FFF2-40B4-BE49-F238E27FC236}">
                <a16:creationId xmlns:a16="http://schemas.microsoft.com/office/drawing/2014/main" id="{C6D3B5EF-3BAF-444C-BE23-F54EBD381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source-9">
            <a:extLst xmlns:a="http://schemas.openxmlformats.org/drawingml/2006/main">
              <a:ext uri="{FF2B5EF4-FFF2-40B4-BE49-F238E27FC236}">
                <a16:creationId xmlns:a16="http://schemas.microsoft.com/office/drawing/2014/main" id="{2AA3094E-5D75-4BC8-B054-640965E56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9906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673"/>
                </a:solidFill>
                <a:latin typeface="PingFang SC"/>
                <a:ea typeface="PingFang SC"/>
                <a:cs typeface="PingFang SC"/>
              </a:defRPr>
            </a:pPr>
            <a:r>
              <a:t>Source: poll_idle_poisson_350qps/README.md · 350 QPS single-run sweep</a:t>
            </a:r>
          </a:p>
        </p:txBody>
      </p:sp>
      <p:sp>
        <p:nvSpPr>
          <p:cNvPr id="5" name="page-9">
            <a:extLst xmlns:a="http://schemas.openxmlformats.org/drawingml/2006/main">
              <a:ext uri="{FF2B5EF4-FFF2-40B4-BE49-F238E27FC236}">
                <a16:creationId xmlns:a16="http://schemas.microsoft.com/office/drawing/2014/main" id="{85FCA191-CD33-454D-A8DA-CB2BCFF04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19850"/>
            <a:ext cx="609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C6673"/>
                </a:solidFill>
                <a:latin typeface="PingFang SC"/>
                <a:ea typeface="PingFang SC"/>
                <a:cs typeface="PingFang SC"/>
              </a:defRPr>
            </a:pPr>
            <a:r>
              <a:t>09</a:t>
            </a:r>
          </a:p>
        </p:txBody>
      </p:sp>
      <p:sp>
        <p:nvSpPr>
          <p:cNvPr id="6" name="decision-intro-9">
            <a:extLst xmlns:a="http://schemas.openxmlformats.org/drawingml/2006/main">
              <a:ext uri="{FF2B5EF4-FFF2-40B4-BE49-F238E27FC236}">
                <a16:creationId xmlns:a16="http://schemas.microsoft.com/office/drawing/2014/main" id="{AC93376B-338B-40B9-9A5A-31E9499F1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919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C6673"/>
                </a:solidFill>
                <a:latin typeface="PingFang SC"/>
                <a:ea typeface="PingFang SC"/>
                <a:cs typeface="PingFang SC"/>
              </a:defRPr>
            </a:pPr>
            <a:r>
              <a:t>要把一次 350 QPS sweep 变成稳定策略，还需要把“配置值”转换为“实际等待行为”。</a:t>
            </a:r>
          </a:p>
        </p:txBody>
      </p:sp>
      <p:sp>
        <p:nvSpPr>
          <p:cNvPr id="7" name="decision-rule-9-0">
            <a:extLst xmlns:a="http://schemas.openxmlformats.org/drawingml/2006/main">
              <a:ext uri="{FF2B5EF4-FFF2-40B4-BE49-F238E27FC236}">
                <a16:creationId xmlns:a16="http://schemas.microsoft.com/office/drawing/2014/main" id="{61E49733-D7BA-4D3A-880D-1C845EDBF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0505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8" name="decision-title-9-0">
            <a:extLst xmlns:a="http://schemas.openxmlformats.org/drawingml/2006/main">
              <a:ext uri="{FF2B5EF4-FFF2-40B4-BE49-F238E27FC236}">
                <a16:creationId xmlns:a16="http://schemas.microsoft.com/office/drawing/2014/main" id="{7833AC8D-75A0-4578-9C3C-9A7F17624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71750"/>
            <a:ext cx="33337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建立置信区间</a:t>
            </a:r>
          </a:p>
        </p:txBody>
      </p:sp>
      <p:sp>
        <p:nvSpPr>
          <p:cNvPr id="9" name="decision-body-9-0">
            <a:extLst xmlns:a="http://schemas.openxmlformats.org/drawingml/2006/main">
              <a:ext uri="{FF2B5EF4-FFF2-40B4-BE49-F238E27FC236}">
                <a16:creationId xmlns:a16="http://schemas.microsoft.com/office/drawing/2014/main" id="{C49B3D86-6B44-4B5A-AAB4-3784287C3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76600"/>
            <a:ext cx="3333750" cy="167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C6673"/>
                </a:solidFill>
                <a:latin typeface="PingFang SC"/>
                <a:ea typeface="PingFang SC"/>
                <a:cs typeface="PingFang SC"/>
              </a:defRPr>
            </a:pPr>
            <a:r>
              <a:t>每个点重复 ≥3 次并交错 baseline；扩大请求数，避免 p99.9 只由约 5 个样本决定。</a:t>
            </a:r>
          </a:p>
        </p:txBody>
      </p:sp>
      <p:sp>
        <p:nvSpPr>
          <p:cNvPr id="10" name="decision-rule-9-1">
            <a:extLst xmlns:a="http://schemas.openxmlformats.org/drawingml/2006/main">
              <a:ext uri="{FF2B5EF4-FFF2-40B4-BE49-F238E27FC236}">
                <a16:creationId xmlns:a16="http://schemas.microsoft.com/office/drawing/2014/main" id="{1A03D5A1-B4A3-4EB7-9923-D87A212A6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30505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1" name="decision-title-9-1">
            <a:extLst xmlns:a="http://schemas.openxmlformats.org/drawingml/2006/main">
              <a:ext uri="{FF2B5EF4-FFF2-40B4-BE49-F238E27FC236}">
                <a16:creationId xmlns:a16="http://schemas.microsoft.com/office/drawing/2014/main" id="{1FC98D4C-862E-40CB-BB4B-E0ACE9292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571750"/>
            <a:ext cx="33337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测真实时间</a:t>
            </a:r>
          </a:p>
        </p:txBody>
      </p:sp>
      <p:sp>
        <p:nvSpPr>
          <p:cNvPr id="12" name="decision-body-9-1">
            <a:extLst xmlns:a="http://schemas.openxmlformats.org/drawingml/2006/main">
              <a:ext uri="{FF2B5EF4-FFF2-40B4-BE49-F238E27FC236}">
                <a16:creationId xmlns:a16="http://schemas.microsoft.com/office/drawing/2014/main" id="{D1F9E095-7B90-441B-A680-6D255603A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276600"/>
            <a:ext cx="3333750" cy="167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C6673"/>
                </a:solidFill>
                <a:latin typeface="PingFang SC"/>
                <a:ea typeface="PingFang SC"/>
                <a:cs typeface="PingFang SC"/>
              </a:defRPr>
            </a:pPr>
            <a:r>
              <a:t>记录 time-to-first-idle、实际 sleep / wait 和 publish-to-detect；把 BUD 次数换算为可跨机器比较的时间。</a:t>
            </a:r>
          </a:p>
        </p:txBody>
      </p:sp>
      <p:sp>
        <p:nvSpPr>
          <p:cNvPr id="13" name="decision-rule-9-2">
            <a:extLst xmlns:a="http://schemas.openxmlformats.org/drawingml/2006/main">
              <a:ext uri="{FF2B5EF4-FFF2-40B4-BE49-F238E27FC236}">
                <a16:creationId xmlns:a16="http://schemas.microsoft.com/office/drawing/2014/main" id="{96FE24D8-0F75-40C2-A88B-7CFDE3356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30505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4" name="decision-title-9-2">
            <a:extLst xmlns:a="http://schemas.openxmlformats.org/drawingml/2006/main">
              <a:ext uri="{FF2B5EF4-FFF2-40B4-BE49-F238E27FC236}">
                <a16:creationId xmlns:a16="http://schemas.microsoft.com/office/drawing/2014/main" id="{1F9A3BB0-2A37-4F4E-B8F6-A7EC259AF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71750"/>
            <a:ext cx="33337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扩展负载边界</a:t>
            </a:r>
          </a:p>
        </p:txBody>
      </p:sp>
      <p:sp>
        <p:nvSpPr>
          <p:cNvPr id="15" name="decision-body-9-2">
            <a:extLst xmlns:a="http://schemas.openxmlformats.org/drawingml/2006/main">
              <a:ext uri="{FF2B5EF4-FFF2-40B4-BE49-F238E27FC236}">
                <a16:creationId xmlns:a16="http://schemas.microsoft.com/office/drawing/2014/main" id="{9122FB4B-8671-4FD6-BB33-9D9A10427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276600"/>
            <a:ext cx="3333750" cy="167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C6673"/>
                </a:solidFill>
                <a:latin typeface="PingFang SC"/>
                <a:ea typeface="PingFang SC"/>
                <a:cs typeface="PingFang SC"/>
              </a:defRPr>
            </a:pPr>
            <a:r>
              <a:t>扫 offered QPS、payload、连接数和 core placement；验证 BUD=0 / 10 µs 的 knee 是否随压力移动。</a:t>
            </a:r>
          </a:p>
        </p:txBody>
      </p:sp>
      <p:sp>
        <p:nvSpPr>
          <p:cNvPr id="16" name="decision-conclusion-bg-9">
            <a:extLst xmlns:a="http://schemas.openxmlformats.org/drawingml/2006/main">
              <a:ext uri="{FF2B5EF4-FFF2-40B4-BE49-F238E27FC236}">
                <a16:creationId xmlns:a16="http://schemas.microsoft.com/office/drawing/2014/main" id="{F85E3192-9AA6-4EE2-AF49-2E3493715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57800"/>
            <a:ext cx="113919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solidFill>
              <a:srgbClr val="D0EDFA"/>
            </a:solidFill>
            <a:prstDash val="solid"/>
          </a:ln>
        </p:spPr>
      </p:sp>
      <p:sp>
        <p:nvSpPr>
          <p:cNvPr id="17" name="decision-conclusion-9">
            <a:extLst xmlns:a="http://schemas.openxmlformats.org/drawingml/2006/main">
              <a:ext uri="{FF2B5EF4-FFF2-40B4-BE49-F238E27FC236}">
                <a16:creationId xmlns:a16="http://schemas.microsoft.com/office/drawing/2014/main" id="{E1FC2E92-537D-4BAE-9F89-38C2B32D5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38775"/>
            <a:ext cx="108966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应用给硬件/firmware 的反馈应是目标 p99 下的等待分布与 CPU 预算，而不是单一 BUD 数值。</a:t>
            </a:r>
          </a:p>
        </p:txBody>
      </p:sp>
    </p:spTree>
    <p:extLst>
      <p:ext uri="{BB962C8B-B14F-4D97-AF65-F5344CB8AC3E}">
        <p14:creationId xmlns:p14="http://schemas.microsoft.com/office/powerpoint/2010/main" val="84793872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2026-07-22T06:05:47.1810000Z</dcterms:created>
  <dcterms:modified xsi:type="dcterms:W3CDTF">2026-07-22T06:05:47.1810000Z</dcterms:modified>
</coreProperties>
</file>